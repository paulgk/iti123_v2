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5F5F5"/>
        </a:solidFill>
        <a:effectLst/>
      </p:bgPr>
    </p:bg>
    <p:spTree>
      <p:nvGrpSpPr>
        <p:cNvPr id="1" name=""/>
        <p:cNvGrpSpPr/>
        <p:nvPr/>
      </p:nvGrpSpPr>
      <p:grpSpPr/>
      <p:sp>
        <p:nvSpPr>
          <p:cNvPr id="2" name="TextBox 1"/>
          <p:cNvSpPr txBox="1"/>
          <p:nvPr/>
        </p:nvSpPr>
        <p:spPr>
          <a:xfrm>
            <a:off x="1371600" y="2286000"/>
            <a:ext cx="9144000" cy="1097280"/>
          </a:xfrm>
          <a:prstGeom prst="rect">
            <a:avLst/>
          </a:prstGeom>
          <a:noFill/>
        </p:spPr>
        <p:txBody>
          <a:bodyPr wrap="square">
            <a:spAutoFit/>
          </a:bodyPr>
          <a:lstStyle/>
          <a:p>
            <a:pPr algn="ctr"/>
            <a:r>
              <a:rPr sz="4800" b="1" i="0">
                <a:solidFill>
                  <a:srgbClr val="1A1A2E"/>
                </a:solidFill>
                <a:latin typeface="Consolas"/>
              </a:rPr>
              <a:t>AI Badminton Shot Classification</a:t>
            </a:r>
          </a:p>
        </p:txBody>
      </p:sp>
      <p:sp>
        <p:nvSpPr>
          <p:cNvPr id="3" name="TextBox 2"/>
          <p:cNvSpPr txBox="1"/>
          <p:nvPr/>
        </p:nvSpPr>
        <p:spPr>
          <a:xfrm>
            <a:off x="1371600" y="3474720"/>
            <a:ext cx="9144000" cy="548640"/>
          </a:xfrm>
          <a:prstGeom prst="rect">
            <a:avLst/>
          </a:prstGeom>
          <a:noFill/>
        </p:spPr>
        <p:txBody>
          <a:bodyPr wrap="square">
            <a:spAutoFit/>
          </a:bodyPr>
          <a:lstStyle/>
          <a:p>
            <a:pPr algn="ctr"/>
            <a:r>
              <a:rPr sz="2000" b="0" i="0">
                <a:solidFill>
                  <a:srgbClr val="E94560"/>
                </a:solidFill>
                <a:latin typeface="Calibri"/>
              </a:rPr>
              <a:t>Deep Learning for Shot Recognition from Video | ITI123 2025S2</a:t>
            </a:r>
          </a:p>
        </p:txBody>
      </p:sp>
      <p:sp>
        <p:nvSpPr>
          <p:cNvPr id="4" name="Rectangle 3"/>
          <p:cNvSpPr/>
          <p:nvPr/>
        </p:nvSpPr>
        <p:spPr>
          <a:xfrm>
            <a:off x="4724247" y="4389120"/>
            <a:ext cx="2743200" cy="25400"/>
          </a:xfrm>
          <a:prstGeom prst="rect">
            <a:avLst/>
          </a:prstGeom>
          <a:solidFill>
            <a:srgbClr val="E945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5F5F5"/>
        </a:solidFill>
        <a:effectLst/>
      </p:bgPr>
    </p:bg>
    <p:spTree>
      <p:nvGrpSpPr>
        <p:cNvPr id="1" name=""/>
        <p:cNvGrpSpPr/>
        <p:nvPr/>
      </p:nvGrpSpPr>
      <p:grpSpPr/>
      <p:sp>
        <p:nvSpPr>
          <p:cNvPr id="2" name="TextBox 1"/>
          <p:cNvSpPr txBox="1"/>
          <p:nvPr/>
        </p:nvSpPr>
        <p:spPr>
          <a:xfrm>
            <a:off x="914400" y="685800"/>
            <a:ext cx="10362895" cy="914400"/>
          </a:xfrm>
          <a:prstGeom prst="rect">
            <a:avLst/>
          </a:prstGeom>
          <a:noFill/>
        </p:spPr>
        <p:txBody>
          <a:bodyPr wrap="square">
            <a:spAutoFit/>
          </a:bodyPr>
          <a:lstStyle/>
          <a:p>
            <a:pPr algn="l"/>
            <a:r>
              <a:rPr sz="3000" b="1" i="0">
                <a:solidFill>
                  <a:srgbClr val="1A1A2E"/>
                </a:solidFill>
                <a:latin typeface="Consolas"/>
              </a:rPr>
              <a:t>The Problem</a:t>
            </a:r>
          </a:p>
        </p:txBody>
      </p:sp>
      <p:sp>
        <p:nvSpPr>
          <p:cNvPr id="3" name="TextBox 2"/>
          <p:cNvSpPr txBox="1"/>
          <p:nvPr/>
        </p:nvSpPr>
        <p:spPr>
          <a:xfrm>
            <a:off x="1097280" y="1645920"/>
            <a:ext cx="9997135" cy="411480"/>
          </a:xfrm>
          <a:prstGeom prst="rect">
            <a:avLst/>
          </a:prstGeom>
          <a:noFill/>
        </p:spPr>
        <p:txBody>
          <a:bodyPr wrap="square">
            <a:spAutoFit/>
          </a:bodyPr>
          <a:lstStyle/>
          <a:p>
            <a:pPr algn="l"/>
            <a:r>
              <a:rPr sz="2000" b="0" i="0">
                <a:solidFill>
                  <a:srgbClr val="1A1A2E"/>
                </a:solidFill>
                <a:latin typeface="Calibri"/>
              </a:rPr>
              <a:t>—  Recreational badminton players lack affordable coaching</a:t>
            </a:r>
          </a:p>
        </p:txBody>
      </p:sp>
      <p:sp>
        <p:nvSpPr>
          <p:cNvPr id="4" name="TextBox 3"/>
          <p:cNvSpPr txBox="1"/>
          <p:nvPr/>
        </p:nvSpPr>
        <p:spPr>
          <a:xfrm>
            <a:off x="1097280" y="2148840"/>
            <a:ext cx="9997135" cy="411480"/>
          </a:xfrm>
          <a:prstGeom prst="rect">
            <a:avLst/>
          </a:prstGeom>
          <a:noFill/>
        </p:spPr>
        <p:txBody>
          <a:bodyPr wrap="square">
            <a:spAutoFit/>
          </a:bodyPr>
          <a:lstStyle/>
          <a:p>
            <a:pPr algn="l"/>
            <a:r>
              <a:rPr sz="2000" b="0" i="0">
                <a:solidFill>
                  <a:srgbClr val="1A1A2E"/>
                </a:solidFill>
                <a:latin typeface="Calibri"/>
              </a:rPr>
              <a:t>—  Professional coaching is expensive and inaccessible</a:t>
            </a:r>
          </a:p>
        </p:txBody>
      </p:sp>
      <p:sp>
        <p:nvSpPr>
          <p:cNvPr id="5" name="TextBox 4"/>
          <p:cNvSpPr txBox="1"/>
          <p:nvPr/>
        </p:nvSpPr>
        <p:spPr>
          <a:xfrm>
            <a:off x="1097280" y="2651760"/>
            <a:ext cx="9997135" cy="411480"/>
          </a:xfrm>
          <a:prstGeom prst="rect">
            <a:avLst/>
          </a:prstGeom>
          <a:noFill/>
        </p:spPr>
        <p:txBody>
          <a:bodyPr wrap="square">
            <a:spAutoFit/>
          </a:bodyPr>
          <a:lstStyle/>
          <a:p>
            <a:pPr algn="l"/>
            <a:r>
              <a:rPr sz="2000" b="0" i="0">
                <a:solidFill>
                  <a:srgbClr val="1A1A2E"/>
                </a:solidFill>
                <a:latin typeface="Calibri"/>
              </a:rPr>
              <a:t>—  Goal: classify 5 shot types from video automatically</a:t>
            </a:r>
          </a:p>
        </p:txBody>
      </p:sp>
      <p:sp>
        <p:nvSpPr>
          <p:cNvPr id="6" name="TextBox 5"/>
          <p:cNvSpPr txBox="1"/>
          <p:nvPr/>
        </p:nvSpPr>
        <p:spPr>
          <a:xfrm>
            <a:off x="1097280" y="3154680"/>
            <a:ext cx="9997135" cy="411480"/>
          </a:xfrm>
          <a:prstGeom prst="rect">
            <a:avLst/>
          </a:prstGeom>
          <a:noFill/>
        </p:spPr>
        <p:txBody>
          <a:bodyPr wrap="square">
            <a:spAutoFit/>
          </a:bodyPr>
          <a:lstStyle/>
          <a:p>
            <a:pPr algn="l"/>
            <a:r>
              <a:rPr sz="2000" b="0" i="0">
                <a:solidFill>
                  <a:srgbClr val="1A1A2E"/>
                </a:solidFill>
                <a:latin typeface="Calibri"/>
              </a:rPr>
              <a:t>—  Clear, Drive, Drop, Lift, Smash</a:t>
            </a:r>
          </a:p>
        </p:txBody>
      </p:sp>
      <p:sp>
        <p:nvSpPr>
          <p:cNvPr id="7" name="TextBox 6"/>
          <p:cNvSpPr txBox="1"/>
          <p:nvPr/>
        </p:nvSpPr>
        <p:spPr>
          <a:xfrm>
            <a:off x="1097280" y="3657600"/>
            <a:ext cx="9997135" cy="411480"/>
          </a:xfrm>
          <a:prstGeom prst="rect">
            <a:avLst/>
          </a:prstGeom>
          <a:noFill/>
        </p:spPr>
        <p:txBody>
          <a:bodyPr wrap="square">
            <a:spAutoFit/>
          </a:bodyPr>
          <a:lstStyle/>
          <a:p>
            <a:pPr algn="l"/>
            <a:r>
              <a:rPr sz="2000" b="0" i="0">
                <a:solidFill>
                  <a:srgbClr val="1A1A2E"/>
                </a:solidFill>
                <a:latin typeface="Calibri"/>
              </a:rPr>
              <a:t>—  Framed as a video classification task (spatial + temporal)</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5F5F5"/>
        </a:solidFill>
        <a:effectLst/>
      </p:bgPr>
    </p:bg>
    <p:spTree>
      <p:nvGrpSpPr>
        <p:cNvPr id="1" name=""/>
        <p:cNvGrpSpPr/>
        <p:nvPr/>
      </p:nvGrpSpPr>
      <p:grpSpPr/>
      <p:sp>
        <p:nvSpPr>
          <p:cNvPr id="2" name="TextBox 1"/>
          <p:cNvSpPr txBox="1"/>
          <p:nvPr/>
        </p:nvSpPr>
        <p:spPr>
          <a:xfrm>
            <a:off x="914400" y="685800"/>
            <a:ext cx="10362895" cy="914400"/>
          </a:xfrm>
          <a:prstGeom prst="rect">
            <a:avLst/>
          </a:prstGeom>
          <a:noFill/>
        </p:spPr>
        <p:txBody>
          <a:bodyPr wrap="square">
            <a:spAutoFit/>
          </a:bodyPr>
          <a:lstStyle/>
          <a:p>
            <a:pPr algn="l"/>
            <a:r>
              <a:rPr sz="3000" b="1" i="0">
                <a:solidFill>
                  <a:srgbClr val="1A1A2E"/>
                </a:solidFill>
                <a:latin typeface="Consolas"/>
              </a:rPr>
              <a:t>Dataset: ShuttleSet</a:t>
            </a:r>
          </a:p>
        </p:txBody>
      </p:sp>
      <p:sp>
        <p:nvSpPr>
          <p:cNvPr id="3" name="TextBox 2"/>
          <p:cNvSpPr txBox="1"/>
          <p:nvPr/>
        </p:nvSpPr>
        <p:spPr>
          <a:xfrm>
            <a:off x="1097280" y="1645920"/>
            <a:ext cx="9997135" cy="411480"/>
          </a:xfrm>
          <a:prstGeom prst="rect">
            <a:avLst/>
          </a:prstGeom>
          <a:noFill/>
        </p:spPr>
        <p:txBody>
          <a:bodyPr wrap="square">
            <a:spAutoFit/>
          </a:bodyPr>
          <a:lstStyle/>
          <a:p>
            <a:pPr algn="l"/>
            <a:r>
              <a:rPr sz="2000" b="0" i="0">
                <a:solidFill>
                  <a:srgbClr val="1A1A2E"/>
                </a:solidFill>
                <a:latin typeface="Calibri"/>
              </a:rPr>
              <a:t>—  22,302 video clips from professional tournaments</a:t>
            </a:r>
          </a:p>
        </p:txBody>
      </p:sp>
      <p:sp>
        <p:nvSpPr>
          <p:cNvPr id="4" name="TextBox 3"/>
          <p:cNvSpPr txBox="1"/>
          <p:nvPr/>
        </p:nvSpPr>
        <p:spPr>
          <a:xfrm>
            <a:off x="1097280" y="2148840"/>
            <a:ext cx="9997135" cy="411480"/>
          </a:xfrm>
          <a:prstGeom prst="rect">
            <a:avLst/>
          </a:prstGeom>
          <a:noFill/>
        </p:spPr>
        <p:txBody>
          <a:bodyPr wrap="square">
            <a:spAutoFit/>
          </a:bodyPr>
          <a:lstStyle/>
          <a:p>
            <a:pPr algn="l"/>
            <a:r>
              <a:rPr sz="2000" b="0" i="0">
                <a:solidFill>
                  <a:srgbClr val="1A1A2E"/>
                </a:solidFill>
                <a:latin typeface="Calibri"/>
              </a:rPr>
              <a:t>—  Source: Wang et al. 2023 (arXiv:2306.04948)</a:t>
            </a:r>
          </a:p>
        </p:txBody>
      </p:sp>
      <p:sp>
        <p:nvSpPr>
          <p:cNvPr id="5" name="TextBox 4"/>
          <p:cNvSpPr txBox="1"/>
          <p:nvPr/>
        </p:nvSpPr>
        <p:spPr>
          <a:xfrm>
            <a:off x="1097280" y="2651760"/>
            <a:ext cx="9997135" cy="411480"/>
          </a:xfrm>
          <a:prstGeom prst="rect">
            <a:avLst/>
          </a:prstGeom>
          <a:noFill/>
        </p:spPr>
        <p:txBody>
          <a:bodyPr wrap="square">
            <a:spAutoFit/>
          </a:bodyPr>
          <a:lstStyle/>
          <a:p>
            <a:pPr algn="l"/>
            <a:r>
              <a:rPr sz="2000" b="0" i="0">
                <a:solidFill>
                  <a:srgbClr val="1A1A2E"/>
                </a:solidFill>
                <a:latin typeface="Calibri"/>
              </a:rPr>
              <a:t>—  2-3 second clips per shot, 5 classes</a:t>
            </a:r>
          </a:p>
        </p:txBody>
      </p:sp>
      <p:sp>
        <p:nvSpPr>
          <p:cNvPr id="6" name="TextBox 5"/>
          <p:cNvSpPr txBox="1"/>
          <p:nvPr/>
        </p:nvSpPr>
        <p:spPr>
          <a:xfrm>
            <a:off x="1097280" y="3154680"/>
            <a:ext cx="9997135" cy="411480"/>
          </a:xfrm>
          <a:prstGeom prst="rect">
            <a:avLst/>
          </a:prstGeom>
          <a:noFill/>
        </p:spPr>
        <p:txBody>
          <a:bodyPr wrap="square">
            <a:spAutoFit/>
          </a:bodyPr>
          <a:lstStyle/>
          <a:p>
            <a:pPr algn="l"/>
            <a:r>
              <a:rPr sz="2000" b="0" i="0">
                <a:solidFill>
                  <a:srgbClr val="1A1A2E"/>
                </a:solidFill>
                <a:latin typeface="Calibri"/>
              </a:rPr>
              <a:t>—  Train: 15,611 | Val: 2,208 | Test: 4,483</a:t>
            </a:r>
          </a:p>
        </p:txBody>
      </p:sp>
      <p:sp>
        <p:nvSpPr>
          <p:cNvPr id="7" name="TextBox 6"/>
          <p:cNvSpPr txBox="1"/>
          <p:nvPr/>
        </p:nvSpPr>
        <p:spPr>
          <a:xfrm>
            <a:off x="1097280" y="3657600"/>
            <a:ext cx="9997135" cy="411480"/>
          </a:xfrm>
          <a:prstGeom prst="rect">
            <a:avLst/>
          </a:prstGeom>
          <a:noFill/>
        </p:spPr>
        <p:txBody>
          <a:bodyPr wrap="square">
            <a:spAutoFit/>
          </a:bodyPr>
          <a:lstStyle/>
          <a:p>
            <a:pPr algn="l"/>
            <a:r>
              <a:rPr sz="2000" b="0" i="0">
                <a:solidFill>
                  <a:srgbClr val="1A1A2E"/>
                </a:solidFill>
                <a:latin typeface="Calibri"/>
              </a:rPr>
              <a:t>—  Stratified 70/10/20 split preserving class ratios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5F5F5"/>
        </a:solidFill>
        <a:effectLst/>
      </p:bgPr>
    </p:bg>
    <p:spTree>
      <p:nvGrpSpPr>
        <p:cNvPr id="1" name=""/>
        <p:cNvGrpSpPr/>
        <p:nvPr/>
      </p:nvGrpSpPr>
      <p:grpSpPr/>
      <p:sp>
        <p:nvSpPr>
          <p:cNvPr id="2" name="TextBox 1"/>
          <p:cNvSpPr txBox="1"/>
          <p:nvPr/>
        </p:nvSpPr>
        <p:spPr>
          <a:xfrm>
            <a:off x="1828800" y="2011680"/>
            <a:ext cx="8229600" cy="2286000"/>
          </a:xfrm>
          <a:prstGeom prst="rect">
            <a:avLst/>
          </a:prstGeom>
          <a:noFill/>
        </p:spPr>
        <p:txBody>
          <a:bodyPr wrap="square">
            <a:spAutoFit/>
          </a:bodyPr>
          <a:lstStyle/>
          <a:p>
            <a:pPr algn="ctr"/>
            <a:r>
              <a:rPr sz="3200" b="0" i="1">
                <a:solidFill>
                  <a:srgbClr val="1A1A2E"/>
                </a:solidFill>
                <a:latin typeface="Calibri"/>
              </a:rPr>
              <a:t>Phase 1: Pose-only approach achieved ~50% accuracy — equivalent to random guessing.</a:t>
            </a:r>
          </a:p>
        </p:txBody>
      </p:sp>
      <p:sp>
        <p:nvSpPr>
          <p:cNvPr id="3" name="TextBox 2"/>
          <p:cNvSpPr txBox="1"/>
          <p:nvPr/>
        </p:nvSpPr>
        <p:spPr>
          <a:xfrm>
            <a:off x="1828800" y="4389120"/>
            <a:ext cx="8229600" cy="457200"/>
          </a:xfrm>
          <a:prstGeom prst="rect">
            <a:avLst/>
          </a:prstGeom>
          <a:noFill/>
        </p:spPr>
        <p:txBody>
          <a:bodyPr wrap="square">
            <a:spAutoFit/>
          </a:bodyPr>
          <a:lstStyle/>
          <a:p>
            <a:pPr algn="ctr"/>
            <a:r>
              <a:rPr sz="1600" b="0" i="0">
                <a:solidFill>
                  <a:srgbClr val="E94560"/>
                </a:solidFill>
                <a:latin typeface="Calibri"/>
              </a:rPr>
              <a:t>— Wrist angle difference between Clear and Smash: only 1.1 degrees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5F5F5"/>
        </a:solidFill>
        <a:effectLst/>
      </p:bgPr>
    </p:bg>
    <p:spTree>
      <p:nvGrpSpPr>
        <p:cNvPr id="1" name=""/>
        <p:cNvGrpSpPr/>
        <p:nvPr/>
      </p:nvGrpSpPr>
      <p:grpSpPr/>
      <p:sp>
        <p:nvSpPr>
          <p:cNvPr id="2" name="TextBox 1"/>
          <p:cNvSpPr txBox="1"/>
          <p:nvPr/>
        </p:nvSpPr>
        <p:spPr>
          <a:xfrm>
            <a:off x="1828800" y="2011680"/>
            <a:ext cx="8229600" cy="2286000"/>
          </a:xfrm>
          <a:prstGeom prst="rect">
            <a:avLst/>
          </a:prstGeom>
          <a:noFill/>
        </p:spPr>
        <p:txBody>
          <a:bodyPr wrap="square">
            <a:spAutoFit/>
          </a:bodyPr>
          <a:lstStyle/>
          <a:p>
            <a:pPr algn="ctr"/>
            <a:r>
              <a:rPr sz="3200" b="0" i="1">
                <a:solidFill>
                  <a:srgbClr val="1A1A2E"/>
                </a:solidFill>
                <a:latin typeface="Calibri"/>
              </a:rPr>
              <a:t>Phase 2: Video-based CNN + LSTM achieved 74.6% — a 49% relative improvement.</a:t>
            </a:r>
          </a:p>
        </p:txBody>
      </p:sp>
      <p:sp>
        <p:nvSpPr>
          <p:cNvPr id="3" name="TextBox 2"/>
          <p:cNvSpPr txBox="1"/>
          <p:nvPr/>
        </p:nvSpPr>
        <p:spPr>
          <a:xfrm>
            <a:off x="1828800" y="4389120"/>
            <a:ext cx="8229600" cy="457200"/>
          </a:xfrm>
          <a:prstGeom prst="rect">
            <a:avLst/>
          </a:prstGeom>
          <a:noFill/>
        </p:spPr>
        <p:txBody>
          <a:bodyPr wrap="square">
            <a:spAutoFit/>
          </a:bodyPr>
          <a:lstStyle/>
          <a:p>
            <a:pPr algn="ctr"/>
            <a:r>
              <a:rPr sz="1600" b="0" i="0">
                <a:solidFill>
                  <a:srgbClr val="E94560"/>
                </a:solidFill>
                <a:latin typeface="Calibri"/>
              </a:rPr>
              <a:t>— Visual appearance captures what skeletal pose cannot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5F5F5"/>
        </a:solidFill>
        <a:effectLst/>
      </p:bgPr>
    </p:bg>
    <p:spTree>
      <p:nvGrpSpPr>
        <p:cNvPr id="1" name=""/>
        <p:cNvGrpSpPr/>
        <p:nvPr/>
      </p:nvGrpSpPr>
      <p:grpSpPr/>
      <p:sp>
        <p:nvSpPr>
          <p:cNvPr id="2" name="TextBox 1"/>
          <p:cNvSpPr txBox="1"/>
          <p:nvPr/>
        </p:nvSpPr>
        <p:spPr>
          <a:xfrm>
            <a:off x="914400" y="1371600"/>
            <a:ext cx="2743200" cy="2286000"/>
          </a:xfrm>
          <a:prstGeom prst="rect">
            <a:avLst/>
          </a:prstGeom>
          <a:noFill/>
        </p:spPr>
        <p:txBody>
          <a:bodyPr wrap="square">
            <a:spAutoFit/>
          </a:bodyPr>
          <a:lstStyle/>
          <a:p>
            <a:pPr algn="l"/>
            <a:r>
              <a:rPr sz="12000" b="1" i="0">
                <a:solidFill>
                  <a:srgbClr val="E94560"/>
                </a:solidFill>
                <a:latin typeface="Consolas"/>
              </a:rPr>
              <a:t>01</a:t>
            </a:r>
          </a:p>
        </p:txBody>
      </p:sp>
      <p:sp>
        <p:nvSpPr>
          <p:cNvPr id="3" name="TextBox 2"/>
          <p:cNvSpPr txBox="1"/>
          <p:nvPr/>
        </p:nvSpPr>
        <p:spPr>
          <a:xfrm>
            <a:off x="4114800" y="2286000"/>
            <a:ext cx="6400800" cy="914400"/>
          </a:xfrm>
          <a:prstGeom prst="rect">
            <a:avLst/>
          </a:prstGeom>
          <a:noFill/>
        </p:spPr>
        <p:txBody>
          <a:bodyPr wrap="square">
            <a:spAutoFit/>
          </a:bodyPr>
          <a:lstStyle/>
          <a:p>
            <a:pPr algn="l"/>
            <a:r>
              <a:rPr sz="3600" b="0" i="0">
                <a:solidFill>
                  <a:srgbClr val="1A1A2E"/>
                </a:solidFill>
                <a:latin typeface="Consolas"/>
              </a:rPr>
              <a:t>Model Architecture &amp; Design Decisions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5F5F5"/>
        </a:solidFill>
        <a:effectLst/>
      </p:bgPr>
    </p:bg>
    <p:spTree>
      <p:nvGrpSpPr>
        <p:cNvPr id="1" name=""/>
        <p:cNvGrpSpPr/>
        <p:nvPr/>
      </p:nvGrpSpPr>
      <p:grpSpPr/>
      <p:sp>
        <p:nvSpPr>
          <p:cNvPr id="2" name="TextBox 1"/>
          <p:cNvSpPr txBox="1"/>
          <p:nvPr/>
        </p:nvSpPr>
        <p:spPr>
          <a:xfrm>
            <a:off x="914400" y="685800"/>
            <a:ext cx="10362895" cy="914400"/>
          </a:xfrm>
          <a:prstGeom prst="rect">
            <a:avLst/>
          </a:prstGeom>
          <a:noFill/>
        </p:spPr>
        <p:txBody>
          <a:bodyPr wrap="square">
            <a:spAutoFit/>
          </a:bodyPr>
          <a:lstStyle/>
          <a:p>
            <a:pPr algn="l"/>
            <a:r>
              <a:rPr sz="3000" b="1" i="0">
                <a:solidFill>
                  <a:srgbClr val="1A1A2E"/>
                </a:solidFill>
                <a:latin typeface="Consolas"/>
              </a:rPr>
              <a:t>Why CNN + RNN?</a:t>
            </a:r>
          </a:p>
        </p:txBody>
      </p:sp>
      <p:sp>
        <p:nvSpPr>
          <p:cNvPr id="3" name="TextBox 2"/>
          <p:cNvSpPr txBox="1"/>
          <p:nvPr/>
        </p:nvSpPr>
        <p:spPr>
          <a:xfrm>
            <a:off x="914400" y="1645920"/>
            <a:ext cx="10362895" cy="4754880"/>
          </a:xfrm>
          <a:prstGeom prst="rect">
            <a:avLst/>
          </a:prstGeom>
          <a:noFill/>
        </p:spPr>
        <p:txBody>
          <a:bodyPr wrap="square">
            <a:spAutoFit/>
          </a:bodyPr>
          <a:lstStyle/>
          <a:p>
            <a:pPr algn="l">
              <a:lnSpc>
                <a:spcPts val="2800"/>
              </a:lnSpc>
            </a:pPr>
            <a:r>
              <a:rPr sz="1800" b="0" i="0">
                <a:solidFill>
                  <a:srgbClr val="1A1A2E"/>
                </a:solidFill>
                <a:latin typeface="Calibri"/>
              </a:rPr>
              <a:t>Video classification requires solving two problems simultaneously. The CNN (ResNet18) extracts spatial features from each frame — racket angle, body posture, court position. The RNN (BiLSTM) learns temporal patterns across 16 sequential frames — the motion dynamics of approach, contact, and follow-through. Neither alone is sufficient. CNN misses motion; RNN cannot process raw pixels. Combined, they form a proven architecture for video action recognition.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5F5F5"/>
        </a:solidFill>
        <a:effectLst/>
      </p:bgPr>
    </p:bg>
    <p:spTree>
      <p:nvGrpSpPr>
        <p:cNvPr id="1" name=""/>
        <p:cNvGrpSpPr/>
        <p:nvPr/>
      </p:nvGrpSpPr>
      <p:grpSpPr/>
      <p:sp>
        <p:nvSpPr>
          <p:cNvPr id="2" name="TextBox 1"/>
          <p:cNvSpPr txBox="1"/>
          <p:nvPr/>
        </p:nvSpPr>
        <p:spPr>
          <a:xfrm>
            <a:off x="914400" y="685800"/>
            <a:ext cx="10362895" cy="914400"/>
          </a:xfrm>
          <a:prstGeom prst="rect">
            <a:avLst/>
          </a:prstGeom>
          <a:noFill/>
        </p:spPr>
        <p:txBody>
          <a:bodyPr wrap="square">
            <a:spAutoFit/>
          </a:bodyPr>
          <a:lstStyle/>
          <a:p>
            <a:pPr algn="l"/>
            <a:r>
              <a:rPr sz="3000" b="1" i="0">
                <a:solidFill>
                  <a:srgbClr val="1A1A2E"/>
                </a:solidFill>
                <a:latin typeface="Consolas"/>
              </a:rPr>
              <a:t>Why ResNet18?</a:t>
            </a:r>
          </a:p>
        </p:txBody>
      </p:sp>
      <p:sp>
        <p:nvSpPr>
          <p:cNvPr id="3" name="TextBox 2"/>
          <p:cNvSpPr txBox="1"/>
          <p:nvPr/>
        </p:nvSpPr>
        <p:spPr>
          <a:xfrm>
            <a:off x="914400" y="1645920"/>
            <a:ext cx="4815687" cy="4754880"/>
          </a:xfrm>
          <a:prstGeom prst="rect">
            <a:avLst/>
          </a:prstGeom>
          <a:noFill/>
        </p:spPr>
        <p:txBody>
          <a:bodyPr wrap="square">
            <a:spAutoFit/>
          </a:bodyPr>
          <a:lstStyle/>
          <a:p>
            <a:pPr algn="l">
              <a:lnSpc>
                <a:spcPts val="2600"/>
              </a:lnSpc>
            </a:pPr>
            <a:r>
              <a:rPr sz="1600" b="0" i="0">
                <a:solidFill>
                  <a:srgbClr val="1A1A2E"/>
                </a:solidFill>
                <a:latin typeface="Calibri"/>
              </a:rPr>
              <a:t>ResNet18 produces 512-dim features — identical output dimensionality to ResNet50 — at half the parameters (11.7M vs 25.5M). Pretrained on ImageNet (1.2M images), it provides strong visual features that transfer well to badminton. Lightweight enough to process 16 frames per video efficiently on a T4 GPU.</a:t>
            </a:r>
          </a:p>
        </p:txBody>
      </p:sp>
      <p:sp>
        <p:nvSpPr>
          <p:cNvPr id="4" name="Rectangle 3"/>
          <p:cNvSpPr/>
          <p:nvPr/>
        </p:nvSpPr>
        <p:spPr>
          <a:xfrm>
            <a:off x="6050127" y="1645920"/>
            <a:ext cx="12700" cy="4754880"/>
          </a:xfrm>
          <a:prstGeom prst="rect">
            <a:avLst/>
          </a:prstGeom>
          <a:solidFill>
            <a:srgbClr val="E945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61607" y="1645920"/>
            <a:ext cx="4815687" cy="4754880"/>
          </a:xfrm>
          <a:prstGeom prst="rect">
            <a:avLst/>
          </a:prstGeom>
          <a:noFill/>
        </p:spPr>
        <p:txBody>
          <a:bodyPr wrap="square">
            <a:spAutoFit/>
          </a:bodyPr>
          <a:lstStyle/>
          <a:p>
            <a:pPr algn="l">
              <a:lnSpc>
                <a:spcPts val="2600"/>
              </a:lnSpc>
            </a:pPr>
            <a:r>
              <a:rPr sz="1600" b="0" i="0">
                <a:solidFill>
                  <a:srgbClr val="1A1A2E"/>
                </a:solidFill>
                <a:latin typeface="Calibri"/>
              </a:rPr>
              <a:t>ResNet50: 2.2x larger, only +2% accuracy. VGG16: 138M params, no skip connections, vanishing gradient risk. MobileNetV3: tested as Option B — similar accuracy but higher overfitting. EfficientNet: compound scaling overkill for 5-class task.</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5F5F5"/>
        </a:solidFill>
        <a:effectLst/>
      </p:bgPr>
    </p:bg>
    <p:spTree>
      <p:nvGrpSpPr>
        <p:cNvPr id="1" name=""/>
        <p:cNvGrpSpPr/>
        <p:nvPr/>
      </p:nvGrpSpPr>
      <p:grpSpPr/>
      <p:sp>
        <p:nvSpPr>
          <p:cNvPr id="2" name="TextBox 1"/>
          <p:cNvSpPr txBox="1"/>
          <p:nvPr/>
        </p:nvSpPr>
        <p:spPr>
          <a:xfrm>
            <a:off x="914400" y="685800"/>
            <a:ext cx="10362895" cy="914400"/>
          </a:xfrm>
          <a:prstGeom prst="rect">
            <a:avLst/>
          </a:prstGeom>
          <a:noFill/>
        </p:spPr>
        <p:txBody>
          <a:bodyPr wrap="square">
            <a:spAutoFit/>
          </a:bodyPr>
          <a:lstStyle/>
          <a:p>
            <a:pPr algn="l"/>
            <a:r>
              <a:rPr sz="3000" b="1" i="0">
                <a:solidFill>
                  <a:srgbClr val="1A1A2E"/>
                </a:solidFill>
                <a:latin typeface="Consolas"/>
              </a:rPr>
              <a:t>Why BiLSTM?</a:t>
            </a:r>
          </a:p>
        </p:txBody>
      </p:sp>
      <p:sp>
        <p:nvSpPr>
          <p:cNvPr id="3" name="TextBox 2"/>
          <p:cNvSpPr txBox="1"/>
          <p:nvPr/>
        </p:nvSpPr>
        <p:spPr>
          <a:xfrm>
            <a:off x="914400" y="1645920"/>
            <a:ext cx="4815687" cy="4754880"/>
          </a:xfrm>
          <a:prstGeom prst="rect">
            <a:avLst/>
          </a:prstGeom>
          <a:noFill/>
        </p:spPr>
        <p:txBody>
          <a:bodyPr wrap="square">
            <a:spAutoFit/>
          </a:bodyPr>
          <a:lstStyle/>
          <a:p>
            <a:pPr algn="l">
              <a:lnSpc>
                <a:spcPts val="2600"/>
              </a:lnSpc>
            </a:pPr>
            <a:r>
              <a:rPr sz="1600" b="0" i="0">
                <a:solidFill>
                  <a:srgbClr val="1A1A2E"/>
                </a:solidFill>
                <a:latin typeface="Calibri"/>
              </a:rPr>
              <a:t>Bidirectional LSTM sees both past and future frames: approach, contact, follow-through. Cell state retains long-term dependencies across all 16 frames, unlike GRU which loses this. Efficient for short sequences — 16 frames is optimal for LSTM, too short for Transformer attention.</a:t>
            </a:r>
          </a:p>
        </p:txBody>
      </p:sp>
      <p:sp>
        <p:nvSpPr>
          <p:cNvPr id="4" name="Rectangle 3"/>
          <p:cNvSpPr/>
          <p:nvPr/>
        </p:nvSpPr>
        <p:spPr>
          <a:xfrm>
            <a:off x="6050127" y="1645920"/>
            <a:ext cx="12700" cy="4754880"/>
          </a:xfrm>
          <a:prstGeom prst="rect">
            <a:avLst/>
          </a:prstGeom>
          <a:solidFill>
            <a:srgbClr val="E945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61607" y="1645920"/>
            <a:ext cx="4815687" cy="4754880"/>
          </a:xfrm>
          <a:prstGeom prst="rect">
            <a:avLst/>
          </a:prstGeom>
          <a:noFill/>
        </p:spPr>
        <p:txBody>
          <a:bodyPr wrap="square">
            <a:spAutoFit/>
          </a:bodyPr>
          <a:lstStyle/>
          <a:p>
            <a:pPr algn="l">
              <a:lnSpc>
                <a:spcPts val="2600"/>
              </a:lnSpc>
            </a:pPr>
            <a:r>
              <a:rPr sz="1600" b="0" i="0">
                <a:solidFill>
                  <a:srgbClr val="1A1A2E"/>
                </a:solidFill>
                <a:latin typeface="Calibri"/>
              </a:rPr>
              <a:t>GRU: 25% fewer params but loses cell state, worse long-term memory. Transformer: 5x slower inference, 16 frames too short for effective attention, needs more training data. Unidirectional LSTM: misses backward context, -2-3% accuracy. 3D CNN: higher compute, needs larger dataset.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5F5F5"/>
        </a:solidFill>
        <a:effectLst/>
      </p:bgPr>
    </p:bg>
    <p:spTree>
      <p:nvGrpSpPr>
        <p:cNvPr id="1" name=""/>
        <p:cNvGrpSpPr/>
        <p:nvPr/>
      </p:nvGrpSpPr>
      <p:grpSpPr/>
      <p:sp>
        <p:nvSpPr>
          <p:cNvPr id="2" name="TextBox 1"/>
          <p:cNvSpPr txBox="1"/>
          <p:nvPr/>
        </p:nvSpPr>
        <p:spPr>
          <a:xfrm>
            <a:off x="914400" y="685800"/>
            <a:ext cx="10362895" cy="914400"/>
          </a:xfrm>
          <a:prstGeom prst="rect">
            <a:avLst/>
          </a:prstGeom>
          <a:noFill/>
        </p:spPr>
        <p:txBody>
          <a:bodyPr wrap="square">
            <a:spAutoFit/>
          </a:bodyPr>
          <a:lstStyle/>
          <a:p>
            <a:pPr algn="l"/>
            <a:r>
              <a:rPr sz="3000" b="1" i="0">
                <a:solidFill>
                  <a:srgbClr val="1A1A2E"/>
                </a:solidFill>
                <a:latin typeface="Consolas"/>
              </a:rPr>
              <a:t>Full Architecture Pipeline</a:t>
            </a:r>
          </a:p>
        </p:txBody>
      </p:sp>
      <p:sp>
        <p:nvSpPr>
          <p:cNvPr id="3" name="TextBox 2"/>
          <p:cNvSpPr txBox="1"/>
          <p:nvPr/>
        </p:nvSpPr>
        <p:spPr>
          <a:xfrm>
            <a:off x="1097280" y="1645920"/>
            <a:ext cx="9997135" cy="411480"/>
          </a:xfrm>
          <a:prstGeom prst="rect">
            <a:avLst/>
          </a:prstGeom>
          <a:noFill/>
        </p:spPr>
        <p:txBody>
          <a:bodyPr wrap="square">
            <a:spAutoFit/>
          </a:bodyPr>
          <a:lstStyle/>
          <a:p>
            <a:pPr algn="l"/>
            <a:r>
              <a:rPr sz="2000" b="0" i="0">
                <a:solidFill>
                  <a:srgbClr val="1A1A2E"/>
                </a:solidFill>
                <a:latin typeface="Calibri"/>
              </a:rPr>
              <a:t>—  1. Sample 16 frames uniformly from video (224x224 RGB)</a:t>
            </a:r>
          </a:p>
        </p:txBody>
      </p:sp>
      <p:sp>
        <p:nvSpPr>
          <p:cNvPr id="4" name="TextBox 3"/>
          <p:cNvSpPr txBox="1"/>
          <p:nvPr/>
        </p:nvSpPr>
        <p:spPr>
          <a:xfrm>
            <a:off x="1097280" y="2148840"/>
            <a:ext cx="9997135" cy="411480"/>
          </a:xfrm>
          <a:prstGeom prst="rect">
            <a:avLst/>
          </a:prstGeom>
          <a:noFill/>
        </p:spPr>
        <p:txBody>
          <a:bodyPr wrap="square">
            <a:spAutoFit/>
          </a:bodyPr>
          <a:lstStyle/>
          <a:p>
            <a:pPr algn="l"/>
            <a:r>
              <a:rPr sz="2000" b="0" i="0">
                <a:solidFill>
                  <a:srgbClr val="1A1A2E"/>
                </a:solidFill>
                <a:latin typeface="Calibri"/>
              </a:rPr>
              <a:t>—  2. ResNet18 CNN: each frame -&gt; 512-dim feature vector</a:t>
            </a:r>
          </a:p>
        </p:txBody>
      </p:sp>
      <p:sp>
        <p:nvSpPr>
          <p:cNvPr id="5" name="TextBox 4"/>
          <p:cNvSpPr txBox="1"/>
          <p:nvPr/>
        </p:nvSpPr>
        <p:spPr>
          <a:xfrm>
            <a:off x="1097280" y="2651760"/>
            <a:ext cx="9997135" cy="411480"/>
          </a:xfrm>
          <a:prstGeom prst="rect">
            <a:avLst/>
          </a:prstGeom>
          <a:noFill/>
        </p:spPr>
        <p:txBody>
          <a:bodyPr wrap="square">
            <a:spAutoFit/>
          </a:bodyPr>
          <a:lstStyle/>
          <a:p>
            <a:pPr algn="l"/>
            <a:r>
              <a:rPr sz="2000" b="0" i="0">
                <a:solidFill>
                  <a:srgbClr val="1A1A2E"/>
                </a:solidFill>
                <a:latin typeface="Calibri"/>
              </a:rPr>
              <a:t>—  3. BiLSTM: 2 layers, 256 hidden units (512 bidirectional)</a:t>
            </a:r>
          </a:p>
        </p:txBody>
      </p:sp>
      <p:sp>
        <p:nvSpPr>
          <p:cNvPr id="6" name="TextBox 5"/>
          <p:cNvSpPr txBox="1"/>
          <p:nvPr/>
        </p:nvSpPr>
        <p:spPr>
          <a:xfrm>
            <a:off x="1097280" y="3154680"/>
            <a:ext cx="9997135" cy="411480"/>
          </a:xfrm>
          <a:prstGeom prst="rect">
            <a:avLst/>
          </a:prstGeom>
          <a:noFill/>
        </p:spPr>
        <p:txBody>
          <a:bodyPr wrap="square">
            <a:spAutoFit/>
          </a:bodyPr>
          <a:lstStyle/>
          <a:p>
            <a:pPr algn="l"/>
            <a:r>
              <a:rPr sz="2000" b="0" i="0">
                <a:solidFill>
                  <a:srgbClr val="1A1A2E"/>
                </a:solidFill>
                <a:latin typeface="Calibri"/>
              </a:rPr>
              <a:t>—  4. Take last timestep -&gt; Dropout 0.5 -&gt; FC(512, 5)</a:t>
            </a:r>
          </a:p>
        </p:txBody>
      </p:sp>
      <p:sp>
        <p:nvSpPr>
          <p:cNvPr id="7" name="TextBox 6"/>
          <p:cNvSpPr txBox="1"/>
          <p:nvPr/>
        </p:nvSpPr>
        <p:spPr>
          <a:xfrm>
            <a:off x="1097280" y="3657600"/>
            <a:ext cx="9997135" cy="411480"/>
          </a:xfrm>
          <a:prstGeom prst="rect">
            <a:avLst/>
          </a:prstGeom>
          <a:noFill/>
        </p:spPr>
        <p:txBody>
          <a:bodyPr wrap="square">
            <a:spAutoFit/>
          </a:bodyPr>
          <a:lstStyle/>
          <a:p>
            <a:pPr algn="l"/>
            <a:r>
              <a:rPr sz="2000" b="0" i="0">
                <a:solidFill>
                  <a:srgbClr val="1A1A2E"/>
                </a:solidFill>
                <a:latin typeface="Calibri"/>
              </a:rPr>
              <a:t>—  5. Softmax -&gt; probabilities for 5 shot classes</a:t>
            </a:r>
          </a:p>
        </p:txBody>
      </p:sp>
      <p:sp>
        <p:nvSpPr>
          <p:cNvPr id="8" name="TextBox 7"/>
          <p:cNvSpPr txBox="1"/>
          <p:nvPr/>
        </p:nvSpPr>
        <p:spPr>
          <a:xfrm>
            <a:off x="1097280" y="4160520"/>
            <a:ext cx="9997135" cy="411480"/>
          </a:xfrm>
          <a:prstGeom prst="rect">
            <a:avLst/>
          </a:prstGeom>
          <a:noFill/>
        </p:spPr>
        <p:txBody>
          <a:bodyPr wrap="square">
            <a:spAutoFit/>
          </a:bodyPr>
          <a:lstStyle/>
          <a:p>
            <a:pPr algn="l"/>
            <a:r>
              <a:rPr sz="2000" b="0" i="0">
                <a:solidFill>
                  <a:srgbClr val="1A1A2E"/>
                </a:solidFill>
                <a:latin typeface="Calibri"/>
              </a:rPr>
              <a:t>—  Total: ~14.3M parameters | ~56MB model file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5F5F5"/>
        </a:solidFill>
        <a:effectLst/>
      </p:bgPr>
    </p:bg>
    <p:spTree>
      <p:nvGrpSpPr>
        <p:cNvPr id="1" name=""/>
        <p:cNvGrpSpPr/>
        <p:nvPr/>
      </p:nvGrpSpPr>
      <p:grpSpPr/>
      <p:sp>
        <p:nvSpPr>
          <p:cNvPr id="2" name="TextBox 1"/>
          <p:cNvSpPr txBox="1"/>
          <p:nvPr/>
        </p:nvSpPr>
        <p:spPr>
          <a:xfrm>
            <a:off x="914400" y="1371600"/>
            <a:ext cx="2743200" cy="2286000"/>
          </a:xfrm>
          <a:prstGeom prst="rect">
            <a:avLst/>
          </a:prstGeom>
          <a:noFill/>
        </p:spPr>
        <p:txBody>
          <a:bodyPr wrap="square">
            <a:spAutoFit/>
          </a:bodyPr>
          <a:lstStyle/>
          <a:p>
            <a:pPr algn="l"/>
            <a:r>
              <a:rPr sz="12000" b="1" i="0">
                <a:solidFill>
                  <a:srgbClr val="E94560"/>
                </a:solidFill>
                <a:latin typeface="Consolas"/>
              </a:rPr>
              <a:t>02</a:t>
            </a:r>
          </a:p>
        </p:txBody>
      </p:sp>
      <p:sp>
        <p:nvSpPr>
          <p:cNvPr id="3" name="TextBox 2"/>
          <p:cNvSpPr txBox="1"/>
          <p:nvPr/>
        </p:nvSpPr>
        <p:spPr>
          <a:xfrm>
            <a:off x="4114800" y="2286000"/>
            <a:ext cx="6400800" cy="914400"/>
          </a:xfrm>
          <a:prstGeom prst="rect">
            <a:avLst/>
          </a:prstGeom>
          <a:noFill/>
        </p:spPr>
        <p:txBody>
          <a:bodyPr wrap="square">
            <a:spAutoFit/>
          </a:bodyPr>
          <a:lstStyle/>
          <a:p>
            <a:pPr algn="l"/>
            <a:r>
              <a:rPr sz="3600" b="0" i="0">
                <a:solidFill>
                  <a:srgbClr val="1A1A2E"/>
                </a:solidFill>
                <a:latin typeface="Consolas"/>
              </a:rPr>
              <a:t>Experiments &amp; Model Comparison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5F5F5"/>
        </a:solidFill>
        <a:effectLst/>
      </p:bgPr>
    </p:bg>
    <p:spTree>
      <p:nvGrpSpPr>
        <p:cNvPr id="1" name=""/>
        <p:cNvGrpSpPr/>
        <p:nvPr/>
      </p:nvGrpSpPr>
      <p:grpSpPr/>
      <p:sp>
        <p:nvSpPr>
          <p:cNvPr id="2" name="TextBox 1"/>
          <p:cNvSpPr txBox="1"/>
          <p:nvPr/>
        </p:nvSpPr>
        <p:spPr>
          <a:xfrm>
            <a:off x="914400" y="685800"/>
            <a:ext cx="10362895" cy="914400"/>
          </a:xfrm>
          <a:prstGeom prst="rect">
            <a:avLst/>
          </a:prstGeom>
          <a:noFill/>
        </p:spPr>
        <p:txBody>
          <a:bodyPr wrap="square">
            <a:spAutoFit/>
          </a:bodyPr>
          <a:lstStyle/>
          <a:p>
            <a:pPr algn="l"/>
            <a:r>
              <a:rPr sz="3000" b="1" i="0">
                <a:solidFill>
                  <a:srgbClr val="1A1A2E"/>
                </a:solidFill>
                <a:latin typeface="Consolas"/>
              </a:rPr>
              <a:t>Option A vs Option B</a:t>
            </a:r>
          </a:p>
        </p:txBody>
      </p:sp>
      <p:sp>
        <p:nvSpPr>
          <p:cNvPr id="3" name="TextBox 2"/>
          <p:cNvSpPr txBox="1"/>
          <p:nvPr/>
        </p:nvSpPr>
        <p:spPr>
          <a:xfrm>
            <a:off x="914400" y="1645920"/>
            <a:ext cx="4815687" cy="4754880"/>
          </a:xfrm>
          <a:prstGeom prst="rect">
            <a:avLst/>
          </a:prstGeom>
          <a:noFill/>
        </p:spPr>
        <p:txBody>
          <a:bodyPr wrap="square">
            <a:spAutoFit/>
          </a:bodyPr>
          <a:lstStyle/>
          <a:p>
            <a:pPr algn="l">
              <a:lnSpc>
                <a:spcPts val="2600"/>
              </a:lnSpc>
            </a:pPr>
            <a:r>
              <a:rPr sz="1600" b="0" i="0">
                <a:solidFill>
                  <a:srgbClr val="1A1A2E"/>
                </a:solidFill>
                <a:latin typeface="Calibri"/>
              </a:rPr>
              <a:t>Option A — ResNet18 + BiLSTM: 74.62% test accuracy. 14.3M params, 164MB. Best Drop precision (90.7%). Lower overfitting: 9.99% train-val gap. Bidirectional temporal context. Proven, standard architecture.</a:t>
            </a:r>
          </a:p>
        </p:txBody>
      </p:sp>
      <p:sp>
        <p:nvSpPr>
          <p:cNvPr id="4" name="Rectangle 3"/>
          <p:cNvSpPr/>
          <p:nvPr/>
        </p:nvSpPr>
        <p:spPr>
          <a:xfrm>
            <a:off x="6050127" y="1645920"/>
            <a:ext cx="12700" cy="4754880"/>
          </a:xfrm>
          <a:prstGeom prst="rect">
            <a:avLst/>
          </a:prstGeom>
          <a:solidFill>
            <a:srgbClr val="E945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61607" y="1645920"/>
            <a:ext cx="4815687" cy="4754880"/>
          </a:xfrm>
          <a:prstGeom prst="rect">
            <a:avLst/>
          </a:prstGeom>
          <a:noFill/>
        </p:spPr>
        <p:txBody>
          <a:bodyPr wrap="square">
            <a:spAutoFit/>
          </a:bodyPr>
          <a:lstStyle/>
          <a:p>
            <a:pPr algn="l">
              <a:lnSpc>
                <a:spcPts val="2600"/>
              </a:lnSpc>
            </a:pPr>
            <a:r>
              <a:rPr sz="1600" b="0" i="0">
                <a:solidFill>
                  <a:srgbClr val="1A1A2E"/>
                </a:solidFill>
                <a:latin typeface="Calibri"/>
              </a:rPr>
              <a:t>Option B — MobileNetV3 + LSTM: 75.26% test accuracy (+0.64%). 4.1M params, 17.3MB (89% smaller). Better Drive/Clear precision. Higher overfitting: 11.02% gap. Unidirectional only. Accuracy difference NOT statistically significant.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5F5F5"/>
        </a:solidFill>
        <a:effectLst/>
      </p:bgPr>
    </p:bg>
    <p:spTree>
      <p:nvGrpSpPr>
        <p:cNvPr id="1" name=""/>
        <p:cNvGrpSpPr/>
        <p:nvPr/>
      </p:nvGrpSpPr>
      <p:grpSpPr/>
      <p:sp>
        <p:nvSpPr>
          <p:cNvPr id="2" name="TextBox 1"/>
          <p:cNvSpPr txBox="1"/>
          <p:nvPr/>
        </p:nvSpPr>
        <p:spPr>
          <a:xfrm>
            <a:off x="914400" y="685800"/>
            <a:ext cx="10362895" cy="914400"/>
          </a:xfrm>
          <a:prstGeom prst="rect">
            <a:avLst/>
          </a:prstGeom>
          <a:noFill/>
        </p:spPr>
        <p:txBody>
          <a:bodyPr wrap="square">
            <a:spAutoFit/>
          </a:bodyPr>
          <a:lstStyle/>
          <a:p>
            <a:pPr algn="l"/>
            <a:r>
              <a:rPr sz="3000" b="1" i="0">
                <a:solidFill>
                  <a:srgbClr val="1A1A2E"/>
                </a:solidFill>
                <a:latin typeface="Consolas"/>
              </a:rPr>
              <a:t>Why Option A Was Selected</a:t>
            </a:r>
          </a:p>
        </p:txBody>
      </p:sp>
      <p:sp>
        <p:nvSpPr>
          <p:cNvPr id="3" name="TextBox 2"/>
          <p:cNvSpPr txBox="1"/>
          <p:nvPr/>
        </p:nvSpPr>
        <p:spPr>
          <a:xfrm>
            <a:off x="914400" y="1645920"/>
            <a:ext cx="10362895" cy="4754880"/>
          </a:xfrm>
          <a:prstGeom prst="rect">
            <a:avLst/>
          </a:prstGeom>
          <a:noFill/>
        </p:spPr>
        <p:txBody>
          <a:bodyPr wrap="square">
            <a:spAutoFit/>
          </a:bodyPr>
          <a:lstStyle/>
          <a:p>
            <a:pPr algn="l">
              <a:lnSpc>
                <a:spcPts val="2800"/>
              </a:lnSpc>
            </a:pPr>
            <a:r>
              <a:rPr sz="1800" b="0" i="0">
                <a:solidFill>
                  <a:srgbClr val="1A1A2E"/>
                </a:solidFill>
                <a:latin typeface="Calibri"/>
              </a:rPr>
              <a:t>The 0.64% accuracy gap is not statistically significant (95% CI: [-0.7%, +2.0%]). Option A was selected because BiLSTM provides richer bidirectional temporal context, it achieves better Smash detection (a safety-critical shot type), and it shows lower overfitting — making it more reliable on unseen data. ResNet18 is well-documented in literature and the desktop Shot Coach app has ample compute capacity.</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5F5F5"/>
        </a:solidFill>
        <a:effectLst/>
      </p:bgPr>
    </p:bg>
    <p:spTree>
      <p:nvGrpSpPr>
        <p:cNvPr id="1" name=""/>
        <p:cNvGrpSpPr/>
        <p:nvPr/>
      </p:nvGrpSpPr>
      <p:grpSpPr/>
      <p:sp>
        <p:nvSpPr>
          <p:cNvPr id="2" name="TextBox 1"/>
          <p:cNvSpPr txBox="1"/>
          <p:nvPr/>
        </p:nvSpPr>
        <p:spPr>
          <a:xfrm>
            <a:off x="914400" y="685800"/>
            <a:ext cx="10362895" cy="914400"/>
          </a:xfrm>
          <a:prstGeom prst="rect">
            <a:avLst/>
          </a:prstGeom>
          <a:noFill/>
        </p:spPr>
        <p:txBody>
          <a:bodyPr wrap="square">
            <a:spAutoFit/>
          </a:bodyPr>
          <a:lstStyle/>
          <a:p>
            <a:pPr algn="l"/>
            <a:r>
              <a:rPr sz="3000" b="1" i="0">
                <a:solidFill>
                  <a:srgbClr val="1A1A2E"/>
                </a:solidFill>
                <a:latin typeface="Consolas"/>
              </a:rPr>
              <a:t>Training Configuration</a:t>
            </a:r>
          </a:p>
        </p:txBody>
      </p:sp>
      <p:sp>
        <p:nvSpPr>
          <p:cNvPr id="3" name="TextBox 2"/>
          <p:cNvSpPr txBox="1"/>
          <p:nvPr/>
        </p:nvSpPr>
        <p:spPr>
          <a:xfrm>
            <a:off x="914400" y="1645920"/>
            <a:ext cx="4815687" cy="4754880"/>
          </a:xfrm>
          <a:prstGeom prst="rect">
            <a:avLst/>
          </a:prstGeom>
          <a:noFill/>
        </p:spPr>
        <p:txBody>
          <a:bodyPr wrap="square">
            <a:spAutoFit/>
          </a:bodyPr>
          <a:lstStyle/>
          <a:p>
            <a:pPr algn="l">
              <a:lnSpc>
                <a:spcPts val="2600"/>
              </a:lnSpc>
            </a:pPr>
            <a:r>
              <a:rPr sz="1600" b="0" i="0">
                <a:solidFill>
                  <a:srgbClr val="1A1A2E"/>
                </a:solidFill>
                <a:latin typeface="Calibri"/>
              </a:rPr>
              <a:t>Optimizer: Adam with LR = 0.001 and weight decay 0.0001 for fine-tuning pretrained ResNet18. Batch size 64. Early stopping with patience = 15 epochs. Total: 44 epochs. Trained on Google Colab T4 GPU.</a:t>
            </a:r>
          </a:p>
        </p:txBody>
      </p:sp>
      <p:sp>
        <p:nvSpPr>
          <p:cNvPr id="4" name="Rectangle 3"/>
          <p:cNvSpPr/>
          <p:nvPr/>
        </p:nvSpPr>
        <p:spPr>
          <a:xfrm>
            <a:off x="6050127" y="1645920"/>
            <a:ext cx="12700" cy="4754880"/>
          </a:xfrm>
          <a:prstGeom prst="rect">
            <a:avLst/>
          </a:prstGeom>
          <a:solidFill>
            <a:srgbClr val="E945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61607" y="1645920"/>
            <a:ext cx="4815687" cy="4754880"/>
          </a:xfrm>
          <a:prstGeom prst="rect">
            <a:avLst/>
          </a:prstGeom>
          <a:noFill/>
        </p:spPr>
        <p:txBody>
          <a:bodyPr wrap="square">
            <a:spAutoFit/>
          </a:bodyPr>
          <a:lstStyle/>
          <a:p>
            <a:pPr algn="l">
              <a:lnSpc>
                <a:spcPts val="2600"/>
              </a:lnSpc>
            </a:pPr>
            <a:r>
              <a:rPr sz="1600" b="0" i="0">
                <a:solidFill>
                  <a:srgbClr val="1A1A2E"/>
                </a:solidFill>
                <a:latin typeface="Calibri"/>
              </a:rPr>
              <a:t>Data augmentation: random horizontal flip (50%), color jitter for brightness and contrast (+-20%), standard ImageNet normalization. Augmentation adds robustness to lighting variation and left-handed players.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5F5F5"/>
        </a:solidFill>
        <a:effectLst/>
      </p:bgPr>
    </p:bg>
    <p:spTree>
      <p:nvGrpSpPr>
        <p:cNvPr id="1" name=""/>
        <p:cNvGrpSpPr/>
        <p:nvPr/>
      </p:nvGrpSpPr>
      <p:grpSpPr/>
      <p:sp>
        <p:nvSpPr>
          <p:cNvPr id="2" name="TextBox 1"/>
          <p:cNvSpPr txBox="1"/>
          <p:nvPr/>
        </p:nvSpPr>
        <p:spPr>
          <a:xfrm>
            <a:off x="914400" y="685800"/>
            <a:ext cx="10362895" cy="914400"/>
          </a:xfrm>
          <a:prstGeom prst="rect">
            <a:avLst/>
          </a:prstGeom>
          <a:noFill/>
        </p:spPr>
        <p:txBody>
          <a:bodyPr wrap="square">
            <a:spAutoFit/>
          </a:bodyPr>
          <a:lstStyle/>
          <a:p>
            <a:pPr algn="l"/>
            <a:r>
              <a:rPr sz="3000" b="1" i="0">
                <a:solidFill>
                  <a:srgbClr val="1A1A2E"/>
                </a:solidFill>
                <a:latin typeface="Consolas"/>
              </a:rPr>
              <a:t>Loss Function: Handling Class Imbalance</a:t>
            </a:r>
          </a:p>
        </p:txBody>
      </p:sp>
      <p:sp>
        <p:nvSpPr>
          <p:cNvPr id="3" name="TextBox 2"/>
          <p:cNvSpPr txBox="1"/>
          <p:nvPr/>
        </p:nvSpPr>
        <p:spPr>
          <a:xfrm>
            <a:off x="914400" y="1645920"/>
            <a:ext cx="10362895" cy="4754880"/>
          </a:xfrm>
          <a:prstGeom prst="rect">
            <a:avLst/>
          </a:prstGeom>
          <a:noFill/>
        </p:spPr>
        <p:txBody>
          <a:bodyPr wrap="square">
            <a:spAutoFit/>
          </a:bodyPr>
          <a:lstStyle/>
          <a:p>
            <a:pPr algn="l">
              <a:lnSpc>
                <a:spcPts val="2800"/>
              </a:lnSpc>
            </a:pPr>
            <a:r>
              <a:rPr sz="1800" b="0" i="0">
                <a:solidFill>
                  <a:srgbClr val="1A1A2E"/>
                </a:solidFill>
                <a:latin typeface="Calibri"/>
              </a:rPr>
              <a:t>The dataset has a 1.84:1 class imbalance ratio. Weighted Cross-Entropy upweights rare classes: Smash 1.49x, Drive 1.24x, Clear 1.0x. Focal Loss was tested but achieved only 73.2% — worse because badminton shots have few truly hard negatives. Unweighted CE drops to 68-70% as Smash and Drive classes are severely underpredicted. Weighted CE provides the best balance across all five classes.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5F5F5"/>
        </a:solidFill>
        <a:effectLst/>
      </p:bgPr>
    </p:bg>
    <p:spTree>
      <p:nvGrpSpPr>
        <p:cNvPr id="1" name=""/>
        <p:cNvGrpSpPr/>
        <p:nvPr/>
      </p:nvGrpSpPr>
      <p:grpSpPr/>
      <p:sp>
        <p:nvSpPr>
          <p:cNvPr id="2" name="TextBox 1"/>
          <p:cNvSpPr txBox="1"/>
          <p:nvPr/>
        </p:nvSpPr>
        <p:spPr>
          <a:xfrm>
            <a:off x="914400" y="1371600"/>
            <a:ext cx="2743200" cy="2286000"/>
          </a:xfrm>
          <a:prstGeom prst="rect">
            <a:avLst/>
          </a:prstGeom>
          <a:noFill/>
        </p:spPr>
        <p:txBody>
          <a:bodyPr wrap="square">
            <a:spAutoFit/>
          </a:bodyPr>
          <a:lstStyle/>
          <a:p>
            <a:pPr algn="l"/>
            <a:r>
              <a:rPr sz="12000" b="1" i="0">
                <a:solidFill>
                  <a:srgbClr val="E94560"/>
                </a:solidFill>
                <a:latin typeface="Consolas"/>
              </a:rPr>
              <a:t>03</a:t>
            </a:r>
          </a:p>
        </p:txBody>
      </p:sp>
      <p:sp>
        <p:nvSpPr>
          <p:cNvPr id="3" name="TextBox 2"/>
          <p:cNvSpPr txBox="1"/>
          <p:nvPr/>
        </p:nvSpPr>
        <p:spPr>
          <a:xfrm>
            <a:off x="4114800" y="2286000"/>
            <a:ext cx="6400800" cy="914400"/>
          </a:xfrm>
          <a:prstGeom prst="rect">
            <a:avLst/>
          </a:prstGeom>
          <a:noFill/>
        </p:spPr>
        <p:txBody>
          <a:bodyPr wrap="square">
            <a:spAutoFit/>
          </a:bodyPr>
          <a:lstStyle/>
          <a:p>
            <a:pPr algn="l"/>
            <a:r>
              <a:rPr sz="3600" b="0" i="0">
                <a:solidFill>
                  <a:srgbClr val="1A1A2E"/>
                </a:solidFill>
                <a:latin typeface="Consolas"/>
              </a:rPr>
              <a:t>Results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5F5F5"/>
        </a:solidFill>
        <a:effectLst/>
      </p:bgPr>
    </p:bg>
    <p:spTree>
      <p:nvGrpSpPr>
        <p:cNvPr id="1" name=""/>
        <p:cNvGrpSpPr/>
        <p:nvPr/>
      </p:nvGrpSpPr>
      <p:grpSpPr/>
      <p:sp>
        <p:nvSpPr>
          <p:cNvPr id="2" name="TextBox 1"/>
          <p:cNvSpPr txBox="1"/>
          <p:nvPr/>
        </p:nvSpPr>
        <p:spPr>
          <a:xfrm>
            <a:off x="914400" y="1645920"/>
            <a:ext cx="10058400" cy="1371600"/>
          </a:xfrm>
          <a:prstGeom prst="rect">
            <a:avLst/>
          </a:prstGeom>
          <a:noFill/>
        </p:spPr>
        <p:txBody>
          <a:bodyPr wrap="square">
            <a:spAutoFit/>
          </a:bodyPr>
          <a:lstStyle/>
          <a:p>
            <a:pPr algn="ctr"/>
            <a:r>
              <a:rPr sz="7200" b="1" i="0">
                <a:solidFill>
                  <a:srgbClr val="E94560"/>
                </a:solidFill>
                <a:latin typeface="Consolas"/>
              </a:rPr>
              <a:t>74.6%</a:t>
            </a:r>
          </a:p>
        </p:txBody>
      </p:sp>
      <p:sp>
        <p:nvSpPr>
          <p:cNvPr id="3" name="TextBox 2"/>
          <p:cNvSpPr txBox="1"/>
          <p:nvPr/>
        </p:nvSpPr>
        <p:spPr>
          <a:xfrm>
            <a:off x="914400" y="3200400"/>
            <a:ext cx="10058400" cy="731520"/>
          </a:xfrm>
          <a:prstGeom prst="rect">
            <a:avLst/>
          </a:prstGeom>
          <a:noFill/>
        </p:spPr>
        <p:txBody>
          <a:bodyPr wrap="square">
            <a:spAutoFit/>
          </a:bodyPr>
          <a:lstStyle/>
          <a:p>
            <a:pPr algn="ctr"/>
            <a:r>
              <a:rPr sz="2400" b="0" i="0">
                <a:solidFill>
                  <a:srgbClr val="1A1A2E"/>
                </a:solidFill>
                <a:latin typeface="Calibri"/>
              </a:rPr>
              <a:t>Test Accuracy</a:t>
            </a:r>
          </a:p>
        </p:txBody>
      </p:sp>
      <p:sp>
        <p:nvSpPr>
          <p:cNvPr id="4" name="TextBox 3"/>
          <p:cNvSpPr txBox="1"/>
          <p:nvPr/>
        </p:nvSpPr>
        <p:spPr>
          <a:xfrm>
            <a:off x="1828800" y="4114800"/>
            <a:ext cx="8229600" cy="457200"/>
          </a:xfrm>
          <a:prstGeom prst="rect">
            <a:avLst/>
          </a:prstGeom>
          <a:noFill/>
        </p:spPr>
        <p:txBody>
          <a:bodyPr wrap="square">
            <a:spAutoFit/>
          </a:bodyPr>
          <a:lstStyle/>
          <a:p>
            <a:pPr algn="ctr"/>
            <a:r>
              <a:rPr sz="1600" b="0" i="0">
                <a:solidFill>
                  <a:srgbClr val="E94560"/>
                </a:solidFill>
                <a:latin typeface="Calibri"/>
              </a:rPr>
              <a:t>3,345 correct out of 4,483 test samples | Weighted F1: 0.749 | +49% vs pose baseline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5F5F5"/>
        </a:solidFill>
        <a:effectLst/>
      </p:bgPr>
    </p:bg>
    <p:spTree>
      <p:nvGrpSpPr>
        <p:cNvPr id="1" name=""/>
        <p:cNvGrpSpPr/>
        <p:nvPr/>
      </p:nvGrpSpPr>
      <p:grpSpPr/>
      <p:sp>
        <p:nvSpPr>
          <p:cNvPr id="2" name="TextBox 1"/>
          <p:cNvSpPr txBox="1"/>
          <p:nvPr/>
        </p:nvSpPr>
        <p:spPr>
          <a:xfrm>
            <a:off x="914400" y="685800"/>
            <a:ext cx="10362895" cy="914400"/>
          </a:xfrm>
          <a:prstGeom prst="rect">
            <a:avLst/>
          </a:prstGeom>
          <a:noFill/>
        </p:spPr>
        <p:txBody>
          <a:bodyPr wrap="square">
            <a:spAutoFit/>
          </a:bodyPr>
          <a:lstStyle/>
          <a:p>
            <a:pPr algn="l"/>
            <a:r>
              <a:rPr sz="3000" b="1" i="0">
                <a:solidFill>
                  <a:srgbClr val="1A1A2E"/>
                </a:solidFill>
                <a:latin typeface="Consolas"/>
              </a:rPr>
              <a:t>Per-Class Performance</a:t>
            </a:r>
          </a:p>
        </p:txBody>
      </p:sp>
      <p:sp>
        <p:nvSpPr>
          <p:cNvPr id="3" name="TextBox 2"/>
          <p:cNvSpPr txBox="1"/>
          <p:nvPr/>
        </p:nvSpPr>
        <p:spPr>
          <a:xfrm>
            <a:off x="1097280" y="1645920"/>
            <a:ext cx="9997135" cy="411480"/>
          </a:xfrm>
          <a:prstGeom prst="rect">
            <a:avLst/>
          </a:prstGeom>
          <a:noFill/>
        </p:spPr>
        <p:txBody>
          <a:bodyPr wrap="square">
            <a:spAutoFit/>
          </a:bodyPr>
          <a:lstStyle/>
          <a:p>
            <a:pPr algn="l"/>
            <a:r>
              <a:rPr sz="2000" b="0" i="0">
                <a:solidFill>
                  <a:srgbClr val="1A1A2E"/>
                </a:solidFill>
                <a:latin typeface="Calibri"/>
              </a:rPr>
              <a:t>—  Drop: 90.7% precision, 74.6% recall, F1 0.819 (strongest)</a:t>
            </a:r>
          </a:p>
        </p:txBody>
      </p:sp>
      <p:sp>
        <p:nvSpPr>
          <p:cNvPr id="4" name="TextBox 3"/>
          <p:cNvSpPr txBox="1"/>
          <p:nvPr/>
        </p:nvSpPr>
        <p:spPr>
          <a:xfrm>
            <a:off x="1097280" y="2148840"/>
            <a:ext cx="9997135" cy="411480"/>
          </a:xfrm>
          <a:prstGeom prst="rect">
            <a:avLst/>
          </a:prstGeom>
          <a:noFill/>
        </p:spPr>
        <p:txBody>
          <a:bodyPr wrap="square">
            <a:spAutoFit/>
          </a:bodyPr>
          <a:lstStyle/>
          <a:p>
            <a:pPr algn="l"/>
            <a:r>
              <a:rPr sz="2000" b="0" i="0">
                <a:solidFill>
                  <a:srgbClr val="1A1A2E"/>
                </a:solidFill>
                <a:latin typeface="Calibri"/>
              </a:rPr>
              <a:t>—  Clear: 67.6% precision, 89.2% recall, F1 0.769</a:t>
            </a:r>
          </a:p>
        </p:txBody>
      </p:sp>
      <p:sp>
        <p:nvSpPr>
          <p:cNvPr id="5" name="TextBox 4"/>
          <p:cNvSpPr txBox="1"/>
          <p:nvPr/>
        </p:nvSpPr>
        <p:spPr>
          <a:xfrm>
            <a:off x="1097280" y="2651760"/>
            <a:ext cx="9997135" cy="411480"/>
          </a:xfrm>
          <a:prstGeom prst="rect">
            <a:avLst/>
          </a:prstGeom>
          <a:noFill/>
        </p:spPr>
        <p:txBody>
          <a:bodyPr wrap="square">
            <a:spAutoFit/>
          </a:bodyPr>
          <a:lstStyle/>
          <a:p>
            <a:pPr algn="l"/>
            <a:r>
              <a:rPr sz="2000" b="0" i="0">
                <a:solidFill>
                  <a:srgbClr val="1A1A2E"/>
                </a:solidFill>
                <a:latin typeface="Calibri"/>
              </a:rPr>
              <a:t>—  Smash: 76.5% precision, 75.8% recall, F1 0.761</a:t>
            </a:r>
          </a:p>
        </p:txBody>
      </p:sp>
      <p:sp>
        <p:nvSpPr>
          <p:cNvPr id="6" name="TextBox 5"/>
          <p:cNvSpPr txBox="1"/>
          <p:nvPr/>
        </p:nvSpPr>
        <p:spPr>
          <a:xfrm>
            <a:off x="1097280" y="3154680"/>
            <a:ext cx="9997135" cy="411480"/>
          </a:xfrm>
          <a:prstGeom prst="rect">
            <a:avLst/>
          </a:prstGeom>
          <a:noFill/>
        </p:spPr>
        <p:txBody>
          <a:bodyPr wrap="square">
            <a:spAutoFit/>
          </a:bodyPr>
          <a:lstStyle/>
          <a:p>
            <a:pPr algn="l"/>
            <a:r>
              <a:rPr sz="2000" b="0" i="0">
                <a:solidFill>
                  <a:srgbClr val="1A1A2E"/>
                </a:solidFill>
                <a:latin typeface="Calibri"/>
              </a:rPr>
              <a:t>—  Lift: 71.0% precision, 75.7% recall, F1 0.733</a:t>
            </a:r>
          </a:p>
        </p:txBody>
      </p:sp>
      <p:sp>
        <p:nvSpPr>
          <p:cNvPr id="7" name="TextBox 6"/>
          <p:cNvSpPr txBox="1"/>
          <p:nvPr/>
        </p:nvSpPr>
        <p:spPr>
          <a:xfrm>
            <a:off x="1097280" y="3657600"/>
            <a:ext cx="9997135" cy="411480"/>
          </a:xfrm>
          <a:prstGeom prst="rect">
            <a:avLst/>
          </a:prstGeom>
          <a:noFill/>
        </p:spPr>
        <p:txBody>
          <a:bodyPr wrap="square">
            <a:spAutoFit/>
          </a:bodyPr>
          <a:lstStyle/>
          <a:p>
            <a:pPr algn="l"/>
            <a:r>
              <a:rPr sz="2000" b="0" i="0">
                <a:solidFill>
                  <a:srgbClr val="1A1A2E"/>
                </a:solidFill>
                <a:latin typeface="Calibri"/>
              </a:rPr>
              <a:t>—  Drive: 58.3% precision, 61.6% recall, F1 0.599 (hardest)</a:t>
            </a:r>
          </a:p>
        </p:txBody>
      </p:sp>
      <p:sp>
        <p:nvSpPr>
          <p:cNvPr id="8" name="TextBox 7"/>
          <p:cNvSpPr txBox="1"/>
          <p:nvPr/>
        </p:nvSpPr>
        <p:spPr>
          <a:xfrm>
            <a:off x="1097280" y="4160520"/>
            <a:ext cx="9997135" cy="411480"/>
          </a:xfrm>
          <a:prstGeom prst="rect">
            <a:avLst/>
          </a:prstGeom>
          <a:noFill/>
        </p:spPr>
        <p:txBody>
          <a:bodyPr wrap="square">
            <a:spAutoFit/>
          </a:bodyPr>
          <a:lstStyle/>
          <a:p>
            <a:pPr algn="l"/>
            <a:r>
              <a:rPr sz="2000" b="0" i="0">
                <a:solidFill>
                  <a:srgbClr val="1A1A2E"/>
                </a:solidFill>
                <a:latin typeface="Calibri"/>
              </a:rPr>
              <a:t>—  Drive vs Lift confusion: 145 misclassified (similar trajectories)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5F5F5"/>
        </a:solidFill>
        <a:effectLst/>
      </p:bgPr>
    </p:bg>
    <p:spTree>
      <p:nvGrpSpPr>
        <p:cNvPr id="1" name=""/>
        <p:cNvGrpSpPr/>
        <p:nvPr/>
      </p:nvGrpSpPr>
      <p:grpSpPr/>
      <p:sp>
        <p:nvSpPr>
          <p:cNvPr id="2" name="TextBox 1"/>
          <p:cNvSpPr txBox="1"/>
          <p:nvPr/>
        </p:nvSpPr>
        <p:spPr>
          <a:xfrm>
            <a:off x="914400" y="1371600"/>
            <a:ext cx="2743200" cy="2286000"/>
          </a:xfrm>
          <a:prstGeom prst="rect">
            <a:avLst/>
          </a:prstGeom>
          <a:noFill/>
        </p:spPr>
        <p:txBody>
          <a:bodyPr wrap="square">
            <a:spAutoFit/>
          </a:bodyPr>
          <a:lstStyle/>
          <a:p>
            <a:pPr algn="l"/>
            <a:r>
              <a:rPr sz="12000" b="1" i="0">
                <a:solidFill>
                  <a:srgbClr val="E94560"/>
                </a:solidFill>
                <a:latin typeface="Consolas"/>
              </a:rPr>
              <a:t>04</a:t>
            </a:r>
          </a:p>
        </p:txBody>
      </p:sp>
      <p:sp>
        <p:nvSpPr>
          <p:cNvPr id="3" name="TextBox 2"/>
          <p:cNvSpPr txBox="1"/>
          <p:nvPr/>
        </p:nvSpPr>
        <p:spPr>
          <a:xfrm>
            <a:off x="4114800" y="2286000"/>
            <a:ext cx="6400800" cy="914400"/>
          </a:xfrm>
          <a:prstGeom prst="rect">
            <a:avLst/>
          </a:prstGeom>
          <a:noFill/>
        </p:spPr>
        <p:txBody>
          <a:bodyPr wrap="square">
            <a:spAutoFit/>
          </a:bodyPr>
          <a:lstStyle/>
          <a:p>
            <a:pPr algn="l"/>
            <a:r>
              <a:rPr sz="3600" b="0" i="0">
                <a:solidFill>
                  <a:srgbClr val="1A1A2E"/>
                </a:solidFill>
                <a:latin typeface="Consolas"/>
              </a:rPr>
              <a:t>Deployment &amp; Application</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5F5F5"/>
        </a:solidFill>
        <a:effectLst/>
      </p:bgPr>
    </p:bg>
    <p:spTree>
      <p:nvGrpSpPr>
        <p:cNvPr id="1" name=""/>
        <p:cNvGrpSpPr/>
        <p:nvPr/>
      </p:nvGrpSpPr>
      <p:grpSpPr/>
      <p:sp>
        <p:nvSpPr>
          <p:cNvPr id="2" name="TextBox 1"/>
          <p:cNvSpPr txBox="1"/>
          <p:nvPr/>
        </p:nvSpPr>
        <p:spPr>
          <a:xfrm>
            <a:off x="914400" y="685800"/>
            <a:ext cx="10362895" cy="914400"/>
          </a:xfrm>
          <a:prstGeom prst="rect">
            <a:avLst/>
          </a:prstGeom>
          <a:noFill/>
        </p:spPr>
        <p:txBody>
          <a:bodyPr wrap="square">
            <a:spAutoFit/>
          </a:bodyPr>
          <a:lstStyle/>
          <a:p>
            <a:pPr algn="l"/>
            <a:r>
              <a:rPr sz="3000" b="1" i="0">
                <a:solidFill>
                  <a:srgbClr val="1A1A2E"/>
                </a:solidFill>
                <a:latin typeface="Consolas"/>
              </a:rPr>
              <a:t>Shot Coach: Streamlit Web App</a:t>
            </a:r>
          </a:p>
        </p:txBody>
      </p:sp>
      <p:sp>
        <p:nvSpPr>
          <p:cNvPr id="3" name="TextBox 2"/>
          <p:cNvSpPr txBox="1"/>
          <p:nvPr/>
        </p:nvSpPr>
        <p:spPr>
          <a:xfrm>
            <a:off x="1097280" y="1645920"/>
            <a:ext cx="9997135" cy="411480"/>
          </a:xfrm>
          <a:prstGeom prst="rect">
            <a:avLst/>
          </a:prstGeom>
          <a:noFill/>
        </p:spPr>
        <p:txBody>
          <a:bodyPr wrap="square">
            <a:spAutoFit/>
          </a:bodyPr>
          <a:lstStyle/>
          <a:p>
            <a:pPr algn="l"/>
            <a:r>
              <a:rPr sz="2000" b="0" i="0">
                <a:solidFill>
                  <a:srgbClr val="1A1A2E"/>
                </a:solidFill>
                <a:latin typeface="Calibri"/>
              </a:rPr>
              <a:t>—  Upload video -&gt; classify shot type in 5-10 seconds</a:t>
            </a:r>
          </a:p>
        </p:txBody>
      </p:sp>
      <p:sp>
        <p:nvSpPr>
          <p:cNvPr id="4" name="TextBox 3"/>
          <p:cNvSpPr txBox="1"/>
          <p:nvPr/>
        </p:nvSpPr>
        <p:spPr>
          <a:xfrm>
            <a:off x="1097280" y="2148840"/>
            <a:ext cx="9997135" cy="411480"/>
          </a:xfrm>
          <a:prstGeom prst="rect">
            <a:avLst/>
          </a:prstGeom>
          <a:noFill/>
        </p:spPr>
        <p:txBody>
          <a:bodyPr wrap="square">
            <a:spAutoFit/>
          </a:bodyPr>
          <a:lstStyle/>
          <a:p>
            <a:pPr algn="l"/>
            <a:r>
              <a:rPr sz="2000" b="0" i="0">
                <a:solidFill>
                  <a:srgbClr val="1A1A2E"/>
                </a:solidFill>
                <a:latin typeface="Calibri"/>
              </a:rPr>
              <a:t>—  MediaPipe pose extraction (33 keypoints) for technique analysis</a:t>
            </a:r>
          </a:p>
        </p:txBody>
      </p:sp>
      <p:sp>
        <p:nvSpPr>
          <p:cNvPr id="5" name="TextBox 4"/>
          <p:cNvSpPr txBox="1"/>
          <p:nvPr/>
        </p:nvSpPr>
        <p:spPr>
          <a:xfrm>
            <a:off x="1097280" y="2651760"/>
            <a:ext cx="9997135" cy="411480"/>
          </a:xfrm>
          <a:prstGeom prst="rect">
            <a:avLst/>
          </a:prstGeom>
          <a:noFill/>
        </p:spPr>
        <p:txBody>
          <a:bodyPr wrap="square">
            <a:spAutoFit/>
          </a:bodyPr>
          <a:lstStyle/>
          <a:p>
            <a:pPr algn="l"/>
            <a:r>
              <a:rPr sz="2000" b="0" i="0">
                <a:solidFill>
                  <a:srgbClr val="1A1A2E"/>
                </a:solidFill>
                <a:latin typeface="Calibri"/>
              </a:rPr>
              <a:t>—  Confidence bar with all 5 class probabilities</a:t>
            </a:r>
          </a:p>
        </p:txBody>
      </p:sp>
      <p:sp>
        <p:nvSpPr>
          <p:cNvPr id="6" name="TextBox 5"/>
          <p:cNvSpPr txBox="1"/>
          <p:nvPr/>
        </p:nvSpPr>
        <p:spPr>
          <a:xfrm>
            <a:off x="1097280" y="3154680"/>
            <a:ext cx="9997135" cy="411480"/>
          </a:xfrm>
          <a:prstGeom prst="rect">
            <a:avLst/>
          </a:prstGeom>
          <a:noFill/>
        </p:spPr>
        <p:txBody>
          <a:bodyPr wrap="square">
            <a:spAutoFit/>
          </a:bodyPr>
          <a:lstStyle/>
          <a:p>
            <a:pPr algn="l"/>
            <a:r>
              <a:rPr sz="2000" b="0" i="0">
                <a:solidFill>
                  <a:srgbClr val="1A1A2E"/>
                </a:solidFill>
                <a:latin typeface="Calibri"/>
              </a:rPr>
              <a:t>—  Frame sampling timeline visualization</a:t>
            </a:r>
          </a:p>
        </p:txBody>
      </p:sp>
      <p:sp>
        <p:nvSpPr>
          <p:cNvPr id="7" name="TextBox 6"/>
          <p:cNvSpPr txBox="1"/>
          <p:nvPr/>
        </p:nvSpPr>
        <p:spPr>
          <a:xfrm>
            <a:off x="1097280" y="3657600"/>
            <a:ext cx="9997135" cy="411480"/>
          </a:xfrm>
          <a:prstGeom prst="rect">
            <a:avLst/>
          </a:prstGeom>
          <a:noFill/>
        </p:spPr>
        <p:txBody>
          <a:bodyPr wrap="square">
            <a:spAutoFit/>
          </a:bodyPr>
          <a:lstStyle/>
          <a:p>
            <a:pPr algn="l"/>
            <a:r>
              <a:rPr sz="2000" b="0" i="0">
                <a:solidFill>
                  <a:srgbClr val="1A1A2E"/>
                </a:solidFill>
                <a:latin typeface="Calibri"/>
              </a:rPr>
              <a:t>—  Smart warnings for long, short, or multi-shot videos</a:t>
            </a:r>
          </a:p>
        </p:txBody>
      </p:sp>
      <p:sp>
        <p:nvSpPr>
          <p:cNvPr id="8" name="TextBox 7"/>
          <p:cNvSpPr txBox="1"/>
          <p:nvPr/>
        </p:nvSpPr>
        <p:spPr>
          <a:xfrm>
            <a:off x="1097280" y="4160520"/>
            <a:ext cx="9997135" cy="411480"/>
          </a:xfrm>
          <a:prstGeom prst="rect">
            <a:avLst/>
          </a:prstGeom>
          <a:noFill/>
        </p:spPr>
        <p:txBody>
          <a:bodyPr wrap="square">
            <a:spAutoFit/>
          </a:bodyPr>
          <a:lstStyle/>
          <a:p>
            <a:pPr algn="l"/>
            <a:r>
              <a:rPr sz="2000" b="0" i="0">
                <a:solidFill>
                  <a:srgbClr val="1A1A2E"/>
                </a:solidFill>
                <a:latin typeface="Calibri"/>
              </a:rPr>
              <a:t>—  Biomechanical feedback and downloadable report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5F5F5"/>
        </a:solidFill>
        <a:effectLst/>
      </p:bgPr>
    </p:bg>
    <p:spTree>
      <p:nvGrpSpPr>
        <p:cNvPr id="1" name=""/>
        <p:cNvGrpSpPr/>
        <p:nvPr/>
      </p:nvGrpSpPr>
      <p:grpSpPr/>
      <p:sp>
        <p:nvSpPr>
          <p:cNvPr id="2" name="TextBox 1"/>
          <p:cNvSpPr txBox="1"/>
          <p:nvPr/>
        </p:nvSpPr>
        <p:spPr>
          <a:xfrm>
            <a:off x="914400" y="685800"/>
            <a:ext cx="10362895" cy="914400"/>
          </a:xfrm>
          <a:prstGeom prst="rect">
            <a:avLst/>
          </a:prstGeom>
          <a:noFill/>
        </p:spPr>
        <p:txBody>
          <a:bodyPr wrap="square">
            <a:spAutoFit/>
          </a:bodyPr>
          <a:lstStyle/>
          <a:p>
            <a:pPr algn="l"/>
            <a:r>
              <a:rPr sz="3000" b="1" i="0">
                <a:solidFill>
                  <a:srgbClr val="1A1A2E"/>
                </a:solidFill>
                <a:latin typeface="Consolas"/>
              </a:rPr>
              <a:t>Responsible AI</a:t>
            </a:r>
          </a:p>
        </p:txBody>
      </p:sp>
      <p:sp>
        <p:nvSpPr>
          <p:cNvPr id="3" name="TextBox 2"/>
          <p:cNvSpPr txBox="1"/>
          <p:nvPr/>
        </p:nvSpPr>
        <p:spPr>
          <a:xfrm>
            <a:off x="1097280" y="1645920"/>
            <a:ext cx="9997135" cy="411480"/>
          </a:xfrm>
          <a:prstGeom prst="rect">
            <a:avLst/>
          </a:prstGeom>
          <a:noFill/>
        </p:spPr>
        <p:txBody>
          <a:bodyPr wrap="square">
            <a:spAutoFit/>
          </a:bodyPr>
          <a:lstStyle/>
          <a:p>
            <a:pPr algn="l"/>
            <a:r>
              <a:rPr sz="2000" b="0" i="0">
                <a:solidFill>
                  <a:srgbClr val="1A1A2E"/>
                </a:solidFill>
                <a:latin typeface="Calibri"/>
              </a:rPr>
              <a:t>—  Bias: trained exclusively on professional tournament footage</a:t>
            </a:r>
          </a:p>
        </p:txBody>
      </p:sp>
      <p:sp>
        <p:nvSpPr>
          <p:cNvPr id="4" name="TextBox 3"/>
          <p:cNvSpPr txBox="1"/>
          <p:nvPr/>
        </p:nvSpPr>
        <p:spPr>
          <a:xfrm>
            <a:off x="1097280" y="2148840"/>
            <a:ext cx="9997135" cy="411480"/>
          </a:xfrm>
          <a:prstGeom prst="rect">
            <a:avLst/>
          </a:prstGeom>
          <a:noFill/>
        </p:spPr>
        <p:txBody>
          <a:bodyPr wrap="square">
            <a:spAutoFit/>
          </a:bodyPr>
          <a:lstStyle/>
          <a:p>
            <a:pPr algn="l"/>
            <a:r>
              <a:rPr sz="2000" b="0" i="0">
                <a:solidFill>
                  <a:srgbClr val="1A1A2E"/>
                </a:solidFill>
                <a:latin typeface="Calibri"/>
              </a:rPr>
              <a:t>—  Transparency: confidence scores and frame sampling shown</a:t>
            </a:r>
          </a:p>
        </p:txBody>
      </p:sp>
      <p:sp>
        <p:nvSpPr>
          <p:cNvPr id="5" name="TextBox 4"/>
          <p:cNvSpPr txBox="1"/>
          <p:nvPr/>
        </p:nvSpPr>
        <p:spPr>
          <a:xfrm>
            <a:off x="1097280" y="2651760"/>
            <a:ext cx="9997135" cy="411480"/>
          </a:xfrm>
          <a:prstGeom prst="rect">
            <a:avLst/>
          </a:prstGeom>
          <a:noFill/>
        </p:spPr>
        <p:txBody>
          <a:bodyPr wrap="square">
            <a:spAutoFit/>
          </a:bodyPr>
          <a:lstStyle/>
          <a:p>
            <a:pPr algn="l"/>
            <a:r>
              <a:rPr sz="2000" b="0" i="0">
                <a:solidFill>
                  <a:srgbClr val="1A1A2E"/>
                </a:solidFill>
                <a:latin typeface="Calibri"/>
              </a:rPr>
              <a:t>—  Low-confidence warnings manage user expectations</a:t>
            </a:r>
          </a:p>
        </p:txBody>
      </p:sp>
      <p:sp>
        <p:nvSpPr>
          <p:cNvPr id="6" name="TextBox 5"/>
          <p:cNvSpPr txBox="1"/>
          <p:nvPr/>
        </p:nvSpPr>
        <p:spPr>
          <a:xfrm>
            <a:off x="1097280" y="3154680"/>
            <a:ext cx="9997135" cy="411480"/>
          </a:xfrm>
          <a:prstGeom prst="rect">
            <a:avLst/>
          </a:prstGeom>
          <a:noFill/>
        </p:spPr>
        <p:txBody>
          <a:bodyPr wrap="square">
            <a:spAutoFit/>
          </a:bodyPr>
          <a:lstStyle/>
          <a:p>
            <a:pPr algn="l"/>
            <a:r>
              <a:rPr sz="2000" b="0" i="0">
                <a:solidFill>
                  <a:srgbClr val="1A1A2E"/>
                </a:solidFill>
                <a:latin typeface="Calibri"/>
              </a:rPr>
              <a:t>—  No personal data collection or storage</a:t>
            </a:r>
          </a:p>
        </p:txBody>
      </p:sp>
      <p:sp>
        <p:nvSpPr>
          <p:cNvPr id="7" name="TextBox 6"/>
          <p:cNvSpPr txBox="1"/>
          <p:nvPr/>
        </p:nvSpPr>
        <p:spPr>
          <a:xfrm>
            <a:off x="1097280" y="3657600"/>
            <a:ext cx="9997135" cy="411480"/>
          </a:xfrm>
          <a:prstGeom prst="rect">
            <a:avLst/>
          </a:prstGeom>
          <a:noFill/>
        </p:spPr>
        <p:txBody>
          <a:bodyPr wrap="square">
            <a:spAutoFit/>
          </a:bodyPr>
          <a:lstStyle/>
          <a:p>
            <a:pPr algn="l"/>
            <a:r>
              <a:rPr sz="2000" b="0" i="0">
                <a:solidFill>
                  <a:srgbClr val="1A1A2E"/>
                </a:solidFill>
                <a:latin typeface="Calibri"/>
              </a:rPr>
              <a:t>—  Model limitations clearly communicated in the UI</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5F5F5"/>
        </a:solidFill>
        <a:effectLst/>
      </p:bgPr>
    </p:bg>
    <p:spTree>
      <p:nvGrpSpPr>
        <p:cNvPr id="1" name=""/>
        <p:cNvGrpSpPr/>
        <p:nvPr/>
      </p:nvGrpSpPr>
      <p:grpSpPr/>
      <p:sp>
        <p:nvSpPr>
          <p:cNvPr id="2" name="TextBox 1"/>
          <p:cNvSpPr txBox="1"/>
          <p:nvPr/>
        </p:nvSpPr>
        <p:spPr>
          <a:xfrm>
            <a:off x="914400" y="685800"/>
            <a:ext cx="10362895" cy="914400"/>
          </a:xfrm>
          <a:prstGeom prst="rect">
            <a:avLst/>
          </a:prstGeom>
          <a:noFill/>
        </p:spPr>
        <p:txBody>
          <a:bodyPr wrap="square">
            <a:spAutoFit/>
          </a:bodyPr>
          <a:lstStyle/>
          <a:p>
            <a:pPr algn="l"/>
            <a:r>
              <a:rPr sz="3000" b="1" i="0">
                <a:solidFill>
                  <a:srgbClr val="1A1A2E"/>
                </a:solidFill>
                <a:latin typeface="Consolas"/>
              </a:rPr>
              <a:t>Lessons Learned &amp; Future Work</a:t>
            </a:r>
          </a:p>
        </p:txBody>
      </p:sp>
      <p:sp>
        <p:nvSpPr>
          <p:cNvPr id="3" name="TextBox 2"/>
          <p:cNvSpPr txBox="1"/>
          <p:nvPr/>
        </p:nvSpPr>
        <p:spPr>
          <a:xfrm>
            <a:off x="914400" y="1645920"/>
            <a:ext cx="4815687" cy="4754880"/>
          </a:xfrm>
          <a:prstGeom prst="rect">
            <a:avLst/>
          </a:prstGeom>
          <a:noFill/>
        </p:spPr>
        <p:txBody>
          <a:bodyPr wrap="square">
            <a:spAutoFit/>
          </a:bodyPr>
          <a:lstStyle/>
          <a:p>
            <a:pPr algn="l">
              <a:lnSpc>
                <a:spcPts val="2600"/>
              </a:lnSpc>
            </a:pPr>
            <a:r>
              <a:rPr sz="1600" b="0" i="0">
                <a:solidFill>
                  <a:srgbClr val="1A1A2E"/>
                </a:solidFill>
                <a:latin typeface="Calibri"/>
              </a:rPr>
              <a:t>Pose data alone is insufficient — visual RGB frames are essential. Class imbalance needs weighted loss; unweighted drops accuracy by 5-7%. User-facing confidence warnings are critical for building trust in AI predictions.</a:t>
            </a:r>
          </a:p>
        </p:txBody>
      </p:sp>
      <p:sp>
        <p:nvSpPr>
          <p:cNvPr id="4" name="Rectangle 3"/>
          <p:cNvSpPr/>
          <p:nvPr/>
        </p:nvSpPr>
        <p:spPr>
          <a:xfrm>
            <a:off x="6050127" y="1645920"/>
            <a:ext cx="12700" cy="4754880"/>
          </a:xfrm>
          <a:prstGeom prst="rect">
            <a:avLst/>
          </a:prstGeom>
          <a:solidFill>
            <a:srgbClr val="E945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61607" y="1645920"/>
            <a:ext cx="4815687" cy="4754880"/>
          </a:xfrm>
          <a:prstGeom prst="rect">
            <a:avLst/>
          </a:prstGeom>
          <a:noFill/>
        </p:spPr>
        <p:txBody>
          <a:bodyPr wrap="square">
            <a:spAutoFit/>
          </a:bodyPr>
          <a:lstStyle/>
          <a:p>
            <a:pPr algn="l">
              <a:lnSpc>
                <a:spcPts val="2600"/>
              </a:lnSpc>
            </a:pPr>
            <a:r>
              <a:rPr sz="1600" b="0" i="0">
                <a:solidFill>
                  <a:srgbClr val="1A1A2E"/>
                </a:solidFill>
                <a:latin typeface="Calibri"/>
              </a:rPr>
              <a:t>Future: 3D CNN (SlowFast) for richer temporal modeling. ROI extraction to focus on the player region. Expand dataset with recreational player footage. Cloud deployment via Streamlit Cloud or Hugging Face Spaces.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5F5F5"/>
        </a:solidFill>
        <a:effectLst/>
      </p:bgPr>
    </p:bg>
    <p:spTree>
      <p:nvGrpSpPr>
        <p:cNvPr id="1" name=""/>
        <p:cNvGrpSpPr/>
        <p:nvPr/>
      </p:nvGrpSpPr>
      <p:grpSpPr/>
      <p:sp>
        <p:nvSpPr>
          <p:cNvPr id="2" name="Rectangle 1"/>
          <p:cNvSpPr/>
          <p:nvPr/>
        </p:nvSpPr>
        <p:spPr>
          <a:xfrm>
            <a:off x="5181447" y="2560320"/>
            <a:ext cx="1828800" cy="25400"/>
          </a:xfrm>
          <a:prstGeom prst="rect">
            <a:avLst/>
          </a:prstGeom>
          <a:solidFill>
            <a:srgbClr val="E945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2926080"/>
            <a:ext cx="10362895" cy="731520"/>
          </a:xfrm>
          <a:prstGeom prst="rect">
            <a:avLst/>
          </a:prstGeom>
          <a:noFill/>
        </p:spPr>
        <p:txBody>
          <a:bodyPr wrap="square">
            <a:spAutoFit/>
          </a:bodyPr>
          <a:lstStyle/>
          <a:p>
            <a:pPr algn="ctr"/>
            <a:r>
              <a:rPr sz="3600" b="0" i="0">
                <a:solidFill>
                  <a:srgbClr val="1A1A2E"/>
                </a:solidFill>
                <a:latin typeface="Consolas"/>
              </a:rPr>
              <a:t>Thank You</a:t>
            </a:r>
          </a:p>
        </p:txBody>
      </p:sp>
      <p:sp>
        <p:nvSpPr>
          <p:cNvPr id="4" name="TextBox 3"/>
          <p:cNvSpPr txBox="1"/>
          <p:nvPr/>
        </p:nvSpPr>
        <p:spPr>
          <a:xfrm>
            <a:off x="914400" y="3749039"/>
            <a:ext cx="10362895" cy="457200"/>
          </a:xfrm>
          <a:prstGeom prst="rect">
            <a:avLst/>
          </a:prstGeom>
          <a:noFill/>
        </p:spPr>
        <p:txBody>
          <a:bodyPr wrap="square">
            <a:spAutoFit/>
          </a:bodyPr>
          <a:lstStyle/>
          <a:p>
            <a:pPr algn="ctr"/>
            <a:r>
              <a:rPr sz="1800" b="0" i="0">
                <a:solidFill>
                  <a:srgbClr val="E94560"/>
                </a:solidFill>
                <a:latin typeface="Calibri"/>
              </a:rPr>
              <a:t>Questions &amp; Live Demo | GitHub Repository Available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 Badminton Shot Classification</dc:title>
  <dc:subject>Deep Learning for Badminton Shot Classification from Video</dc:subject>
  <dc:creator>ITI123 Generative AI &amp; Deep Learning Project 2025S2</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