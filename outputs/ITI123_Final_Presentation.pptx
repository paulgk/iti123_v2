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hw5eeNtOV0fuLm7tczmVvU0MDc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371600" y="2152975"/>
            <a:ext cx="9144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AI-Based Badminton Stroke Classification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371600" y="3855895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Paul George Karippaparambil | Student ID: 8031408E | ITI123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4724247" y="4389120"/>
            <a:ext cx="2743200" cy="2540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914400" y="685800"/>
            <a:ext cx="103628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The 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1097280" y="1645920"/>
            <a:ext cx="9997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Recreational badminton players lack affordable coaching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1097280" y="2148840"/>
            <a:ext cx="9997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Professional coaching is expensive and inaccessible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1097280" y="2651760"/>
            <a:ext cx="9997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Goal: classify 5 shot types from video automatically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097280" y="3154680"/>
            <a:ext cx="9997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Clear, Drive, Drop, Lift, Smash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1097280" y="3657600"/>
            <a:ext cx="9997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Framed as a video classification task (spatial + temporal)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/>
        </p:nvSpPr>
        <p:spPr>
          <a:xfrm>
            <a:off x="182880" y="68580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Dataset: ShuttleSet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182873" y="1645925"/>
            <a:ext cx="768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22,302 video clips from professional tournaments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182880" y="214884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Source: Wang et al. 2023 (arXiv:2306.04948)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182880" y="265176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2-3 second clips per shot, 5 classes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182880" y="315468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Train: 15,611 | Val: 2,208 | Test: 4,483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182880" y="365760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Stratified 70/10/20 split preserving class ratios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/>
        </p:nvSpPr>
        <p:spPr>
          <a:xfrm>
            <a:off x="182880" y="2011680"/>
            <a:ext cx="5486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1" lang="en-US" sz="3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Phase 1: Pose-only approach achieved ~50% accuracy — equivalent to random guessing.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182880" y="43891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— Wrist angle difference between Clear and Smash: only 1.1 degrees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1130" y="1613400"/>
            <a:ext cx="6217595" cy="3631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/>
        </p:nvSpPr>
        <p:spPr>
          <a:xfrm>
            <a:off x="182880" y="2011680"/>
            <a:ext cx="5486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1" lang="en-US" sz="3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Phase 2: Video-based CNN + LSTM achieved 75.3% — a 51% relative improvement.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182880" y="43891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— Visual appearance captures what skeletal pose cannot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aining_history.png"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2500" y="1711552"/>
            <a:ext cx="5943598" cy="343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/>
        </p:nvSpPr>
        <p:spPr>
          <a:xfrm>
            <a:off x="914400" y="1371600"/>
            <a:ext cx="2743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rgbClr val="E94560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4114800" y="228600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Model Architecture &amp; Design Decisions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/>
        </p:nvSpPr>
        <p:spPr>
          <a:xfrm>
            <a:off x="914400" y="685800"/>
            <a:ext cx="103628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Why CNN + RNN?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914400" y="1645920"/>
            <a:ext cx="10362895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Video classification requires solving two problems simultaneously. The CNN (ResNet18) extracts spatial features from each frame — racket angle, body posture, court position. The RNN (BiLSTM) learns temporal patterns across 16 sequential frames — the motion dynamics of approach, contact, and follow-through. Neither alone is sufficient. CNN misses motion; RNN cannot process raw pixels. Combined, they form a proven architecture for video action recognition.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/>
          <p:nvPr/>
        </p:nvSpPr>
        <p:spPr>
          <a:xfrm>
            <a:off x="914388" y="685800"/>
            <a:ext cx="10362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Full Architecture 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0838" y="1411925"/>
            <a:ext cx="7485700" cy="5098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/>
        </p:nvSpPr>
        <p:spPr>
          <a:xfrm>
            <a:off x="914400" y="1371600"/>
            <a:ext cx="2743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rgbClr val="E94560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1"/>
          <p:cNvSpPr txBox="1"/>
          <p:nvPr/>
        </p:nvSpPr>
        <p:spPr>
          <a:xfrm>
            <a:off x="4114800" y="228600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Experiments &amp; Model Comparison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/>
          <p:nvPr/>
        </p:nvSpPr>
        <p:spPr>
          <a:xfrm>
            <a:off x="914400" y="685800"/>
            <a:ext cx="103628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Option A vs Option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2"/>
          <p:cNvSpPr txBox="1"/>
          <p:nvPr/>
        </p:nvSpPr>
        <p:spPr>
          <a:xfrm>
            <a:off x="914400" y="1645920"/>
            <a:ext cx="4815687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Option A — ResNet18 + BiLSTM: 74.62% test accuracy. 14.3M params, 164MB. Best Drop precision (90.7%). Lower overfitting: 9.99% train-val gap. Bidirectional temporal context. Proven, standard architecture.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6050127" y="1645920"/>
            <a:ext cx="12700" cy="475488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 txBox="1"/>
          <p:nvPr/>
        </p:nvSpPr>
        <p:spPr>
          <a:xfrm>
            <a:off x="6461607" y="1645920"/>
            <a:ext cx="4815687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Option B — MobileNetV3 + LSTM: 75.3% test accuracy (+0.64%). 4.1M params, 17.3MB (89% smaller). Better Drive/Clear precision. Higher overfitting: 11.02% gap. Unidirectional only. Accuracy difference not statistically significant. Selected for deployment.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nfusion_matrix.png" id="153" name="Google Shape;15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3200400"/>
            <a:ext cx="5486400" cy="3383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fusion_matrix.png" id="154" name="Google Shape;15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3200400"/>
            <a:ext cx="5486400" cy="3383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/>
          <p:nvPr/>
        </p:nvSpPr>
        <p:spPr>
          <a:xfrm>
            <a:off x="914400" y="685800"/>
            <a:ext cx="103628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Why MobileNet-LSTM Was Deployed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3"/>
          <p:cNvSpPr txBox="1"/>
          <p:nvPr/>
        </p:nvSpPr>
        <p:spPr>
          <a:xfrm>
            <a:off x="914400" y="1645920"/>
            <a:ext cx="10362895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MobileNet-LSTM (Option B) was selected for the deployed Shot Coach application. It achieves higher test accuracy (75.3% vs 74.6%) while using ~70% fewer parameters (4M vs 14M), giving faster inference (&lt;60 ms vs 150 ms on Apple M1) and a 10x smaller model file (17 MB vs 164 MB). The accuracy difference of 0.64% is not statistically significant (95% CI: [-0.7%, +2.0%]), so the efficiency gains made MobileNet-LSTM the clear choice for a web-deployed, resource-constrained environment. ResNet18-BiLSTM remains a valid alternative where bidirectional temporal context is preferred.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/>
          <p:nvPr/>
        </p:nvSpPr>
        <p:spPr>
          <a:xfrm>
            <a:off x="914400" y="685800"/>
            <a:ext cx="103628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Training Configuration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4"/>
          <p:cNvSpPr txBox="1"/>
          <p:nvPr/>
        </p:nvSpPr>
        <p:spPr>
          <a:xfrm>
            <a:off x="914400" y="1645920"/>
            <a:ext cx="48156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Optimizer: Adam with LR = 0.001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Batch size 64. </a:t>
            </a:r>
            <a:endParaRPr b="0" i="0" sz="16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Early stopping with patience = 15 epochs. </a:t>
            </a:r>
            <a:endParaRPr b="0" i="0" sz="16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Total: 44 epochs. Trained on Google Colab T4 GPU.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6050127" y="1645920"/>
            <a:ext cx="12700" cy="475488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 txBox="1"/>
          <p:nvPr/>
        </p:nvSpPr>
        <p:spPr>
          <a:xfrm>
            <a:off x="6461607" y="1645920"/>
            <a:ext cx="4815687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Data augmentation: random horizontal flip (50%), color jitter for brightness and contrast (+-20%), standard ImageNet normalization. Augmentation adds robustness to lighting variation and left-handed players.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/>
          <p:nvPr/>
        </p:nvSpPr>
        <p:spPr>
          <a:xfrm>
            <a:off x="914400" y="1371600"/>
            <a:ext cx="2743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rgbClr val="E94560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4114800" y="228600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/>
          <p:nvPr/>
        </p:nvSpPr>
        <p:spPr>
          <a:xfrm>
            <a:off x="182880" y="164592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E94560"/>
                </a:solidFill>
                <a:latin typeface="Consolas"/>
                <a:ea typeface="Consolas"/>
                <a:cs typeface="Consolas"/>
                <a:sym typeface="Consolas"/>
              </a:rPr>
              <a:t>75.3%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182880" y="320040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Test 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182880" y="4114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3,373 correct out of 4,483 test samples | Weighted F1: 0.753 | +51% vs pose baseline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nfusion_matrix.png" id="182" name="Google Shape;18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914400"/>
            <a:ext cx="5943600" cy="5303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/>
        </p:nvSpPr>
        <p:spPr>
          <a:xfrm>
            <a:off x="914400" y="685800"/>
            <a:ext cx="103628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Per-Class 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1097280" y="1645920"/>
            <a:ext cx="9997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Drop: 90.7% precision, 74.6% recall, F1 0.819 (strongest)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1097280" y="2148840"/>
            <a:ext cx="9997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Clear: 67.6% precision, 89.2% recall, F1 0.769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1097280" y="2651760"/>
            <a:ext cx="9997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Smash: 76.5% precision, 75.8% recall, F1 0.761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1097280" y="3154680"/>
            <a:ext cx="9997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Lift: 71.0% precision, 75.7% recall, F1 0.733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1097280" y="3657600"/>
            <a:ext cx="9997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Drive: 58.3% precision, 61.6% recall, F1 0.599 (hardest)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1097280" y="4160520"/>
            <a:ext cx="9997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Drive vs Lift confusion: 145 misclassified (similar trajectories)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 txBox="1"/>
          <p:nvPr/>
        </p:nvSpPr>
        <p:spPr>
          <a:xfrm>
            <a:off x="914400" y="1371600"/>
            <a:ext cx="2743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rgbClr val="E94560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4114800" y="228600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Deployment &amp; 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/>
        </p:nvSpPr>
        <p:spPr>
          <a:xfrm>
            <a:off x="914400" y="685800"/>
            <a:ext cx="103628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Shot Coach: Streamlit Web App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1097280" y="1645920"/>
            <a:ext cx="9997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Upload video -&gt; classify shot type in 5-10 seconds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1097280" y="2148840"/>
            <a:ext cx="9997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MobileNet-LSTM inference: shot classified in &lt;60 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1097280" y="2651760"/>
            <a:ext cx="9997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Confidence bar with all 5 class probabilities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1097280" y="3154680"/>
            <a:ext cx="9997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Frame sampling timeline visualization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1097280" y="3657600"/>
            <a:ext cx="9997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Smart warnings for long, short, or multi-shot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1097280" y="4160520"/>
            <a:ext cx="9997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Shot descriptions and technique tips per shot 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 txBox="1"/>
          <p:nvPr/>
        </p:nvSpPr>
        <p:spPr>
          <a:xfrm>
            <a:off x="914400" y="685800"/>
            <a:ext cx="103628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Responsible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1097280" y="1645920"/>
            <a:ext cx="9997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Bias: trained exclusively on professional tournament footage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1097280" y="2148840"/>
            <a:ext cx="9997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Transparency: confidence scores and frame sampling shown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1097280" y="2651760"/>
            <a:ext cx="9997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Low-confidence warnings manage user expectations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1097280" y="3154680"/>
            <a:ext cx="9997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No personal data collection or storage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1097280" y="3657600"/>
            <a:ext cx="9997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—  Model limitations clearly communicated in the UI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 txBox="1"/>
          <p:nvPr/>
        </p:nvSpPr>
        <p:spPr>
          <a:xfrm>
            <a:off x="914400" y="685800"/>
            <a:ext cx="103628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Lessons Learned &amp; Future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914400" y="1645920"/>
            <a:ext cx="4815687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Pose data alone is insufficient — visual RGB frames are essential. Class imbalance needs weighted loss; unweighted drops accuracy by 5-7%. User-facing confidence warnings are critical for building trust in AI predictions.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6050127" y="1645920"/>
            <a:ext cx="12700" cy="475488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6461607" y="1645920"/>
            <a:ext cx="4815687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Future: 3D CNN (SlowFast) for richer temporal modeling. ROI extraction to focus on the player region. Expand dataset with recreational player footage. Deployed live on Hugging Face Spaces (huggingface.co/spaces/paulgk/badminton-shot).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"/>
          <p:cNvSpPr/>
          <p:nvPr/>
        </p:nvSpPr>
        <p:spPr>
          <a:xfrm>
            <a:off x="5181447" y="2560320"/>
            <a:ext cx="1828800" cy="2540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914400" y="2926080"/>
            <a:ext cx="103628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914400" y="3749039"/>
            <a:ext cx="103628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Questions &amp; Live Demo | GitHub Repository Available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ITI123 Generative AI &amp; Deep Learning Project 2025S2</dc:creator>
</cp:coreProperties>
</file>